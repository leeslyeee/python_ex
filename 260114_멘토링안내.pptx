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7" r:id="rId1"/>
  </p:sldMasterIdLst>
  <p:notesMasterIdLst>
    <p:notesMasterId r:id="rId13"/>
  </p:notesMasterIdLst>
  <p:handoutMasterIdLst>
    <p:handoutMasterId r:id="rId14"/>
  </p:handoutMasterIdLst>
  <p:sldIdLst>
    <p:sldId id="256" r:id="rId2"/>
    <p:sldId id="1042" r:id="rId3"/>
    <p:sldId id="1043" r:id="rId4"/>
    <p:sldId id="1046" r:id="rId5"/>
    <p:sldId id="1040" r:id="rId6"/>
    <p:sldId id="1053" r:id="rId7"/>
    <p:sldId id="1039" r:id="rId8"/>
    <p:sldId id="1052" r:id="rId9"/>
    <p:sldId id="1056" r:id="rId10"/>
    <p:sldId id="1048" r:id="rId11"/>
    <p:sldId id="104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33" userDrawn="1">
          <p15:clr>
            <a:srgbClr val="A4A3A4"/>
          </p15:clr>
        </p15:guide>
        <p15:guide id="2" pos="7423" userDrawn="1">
          <p15:clr>
            <a:srgbClr val="A4A3A4"/>
          </p15:clr>
        </p15:guide>
        <p15:guide id="3" pos="257" userDrawn="1">
          <p15:clr>
            <a:srgbClr val="A4A3A4"/>
          </p15:clr>
        </p15:guide>
        <p15:guide id="4" orient="horz" pos="3362" userDrawn="1">
          <p15:clr>
            <a:srgbClr val="A4A3A4"/>
          </p15:clr>
        </p15:guide>
        <p15:guide id="5" orient="horz" pos="504" userDrawn="1">
          <p15:clr>
            <a:srgbClr val="A4A3A4"/>
          </p15:clr>
        </p15:guide>
        <p15:guide id="6" orient="horz" pos="3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E7F7"/>
    <a:srgbClr val="5A6580"/>
    <a:srgbClr val="8892AA"/>
    <a:srgbClr val="04306C"/>
    <a:srgbClr val="005AAB"/>
    <a:srgbClr val="C2C2C2"/>
    <a:srgbClr val="F7F8F9"/>
    <a:srgbClr val="373737"/>
    <a:srgbClr val="3F62A0"/>
    <a:srgbClr val="EA57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69" autoAdjust="0"/>
    <p:restoredTop sz="83120" autoAdjust="0"/>
  </p:normalViewPr>
  <p:slideViewPr>
    <p:cSldViewPr>
      <p:cViewPr varScale="1">
        <p:scale>
          <a:sx n="156" d="100"/>
          <a:sy n="156" d="100"/>
        </p:scale>
        <p:origin x="216" y="248"/>
      </p:cViewPr>
      <p:guideLst>
        <p:guide orient="horz" pos="4133"/>
        <p:guide pos="7423"/>
        <p:guide pos="257"/>
        <p:guide orient="horz" pos="3362"/>
        <p:guide orient="horz" pos="504"/>
        <p:guide orient="horz" pos="395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3804" y="84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1C0438-80EA-4EAC-BEA3-EAF7852E2A2D}" type="datetimeFigureOut">
              <a:rPr lang="ko-KR" altLang="en-US" smtClean="0"/>
              <a:t>2026. 1. 21.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0FD03D-F9E9-4E3B-9C77-74FD975D4E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03237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B6E4C256-FFF0-4C79-8D28-E5C052C16EE5}" type="datetimeFigureOut">
              <a:rPr lang="ko-KR" altLang="en-US" smtClean="0"/>
              <a:pPr/>
              <a:t>2026. 1. 21.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9C8C1401-4364-4BCB-A6CA-80ACA1AC70D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3612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나눔스퀘어" panose="020B0600000101010101" pitchFamily="50" charset="-127"/>
        <a:ea typeface="나눔스퀘어" panose="020B0600000101010101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나눔스퀘어" panose="020B0600000101010101" pitchFamily="50" charset="-127"/>
        <a:ea typeface="나눔스퀘어" panose="020B0600000101010101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나눔스퀘어" panose="020B0600000101010101" pitchFamily="50" charset="-127"/>
        <a:ea typeface="나눔스퀘어" panose="020B0600000101010101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나눔스퀘어" panose="020B0600000101010101" pitchFamily="50" charset="-127"/>
        <a:ea typeface="나눔스퀘어" panose="020B0600000101010101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나눔스퀘어" panose="020B0600000101010101" pitchFamily="50" charset="-127"/>
        <a:ea typeface="나눔스퀘어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1877E01-F588-77D4-5C6F-7872E8F580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" y="428"/>
            <a:ext cx="12191980" cy="685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1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ABE09EA-C8B6-B0AC-33B5-3FDA456C10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" y="428"/>
            <a:ext cx="12191982" cy="6857132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3A1D8532-F4CD-D71C-8DEA-972DB6249650}"/>
              </a:ext>
            </a:extLst>
          </p:cNvPr>
          <p:cNvSpPr/>
          <p:nvPr userDrawn="1"/>
        </p:nvSpPr>
        <p:spPr>
          <a:xfrm>
            <a:off x="8987250" y="6497787"/>
            <a:ext cx="2972930" cy="230832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algn="r" latinLnBrk="0">
              <a:spcBef>
                <a:spcPts val="200"/>
              </a:spcBef>
              <a:defRPr/>
            </a:pPr>
            <a:r>
              <a:rPr lang="en-US" altLang="ko-KR" sz="900" kern="0" spc="20" baseline="0" dirty="0">
                <a:gradFill>
                  <a:gsLst>
                    <a:gs pos="0">
                      <a:schemeClr val="tx1">
                        <a:alpha val="50000"/>
                      </a:schemeClr>
                    </a:gs>
                    <a:gs pos="100000">
                      <a:schemeClr val="tx1">
                        <a:alpha val="50000"/>
                      </a:schemeClr>
                    </a:gs>
                  </a:gsLst>
                  <a:lin ang="5400000" scaled="1"/>
                </a:gradFill>
                <a:latin typeface="나눔스퀘어 Light" panose="020B0600000101010101" pitchFamily="50" charset="-127"/>
                <a:ea typeface="나눔스퀘어 Light" panose="020B0600000101010101" pitchFamily="50" charset="-127"/>
                <a:cs typeface="맑은 고딕 Semilight" panose="020B0502040204020203" pitchFamily="50" charset="-127"/>
              </a:rPr>
              <a:t>Copyright by Multicampus Co.,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41762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7">
            <a:extLst>
              <a:ext uri="{FF2B5EF4-FFF2-40B4-BE49-F238E27FC236}">
                <a16:creationId xmlns:a16="http://schemas.microsoft.com/office/drawing/2014/main" id="{E0921147-30D6-A2BE-E4AF-A9F418AF051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19961" y="6606143"/>
            <a:ext cx="352075" cy="153835"/>
          </a:xfrm>
          <a:prstGeom prst="rect">
            <a:avLst/>
          </a:prstGeom>
          <a:noFill/>
          <a:effectLst/>
        </p:spPr>
        <p:txBody>
          <a:bodyPr vert="horz" wrap="none" lIns="0" tIns="0" rIns="0" bIns="0" rtlCol="0" anchor="ctr">
            <a:noAutofit/>
          </a:bodyPr>
          <a:lstStyle/>
          <a:p>
            <a:pPr marL="0" marR="0" lvl="0" indent="0" algn="ctr" defTabSz="89737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C810E-F784-4439-A0DB-2C7343AB6795}" type="slidenum">
              <a:rPr kumimoji="0" lang="en-US" altLang="ko-KR" sz="801" b="0" i="0" u="none" strike="noStrike" kern="0" cap="none" spc="0" normalizeH="0" baseline="0" noProof="0" smtClean="0">
                <a:ln>
                  <a:solidFill>
                    <a:prstClr val="white">
                      <a:alpha val="0"/>
                    </a:prst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0" scaled="1"/>
                </a:gra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pPr marL="0" marR="0" lvl="0" indent="0" algn="ctr" defTabSz="89737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801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gradFill>
                <a:gsLst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lin ang="0" scaled="1"/>
              </a:gra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9F2655E-BA06-42C9-89F4-B24971E8D281}"/>
              </a:ext>
            </a:extLst>
          </p:cNvPr>
          <p:cNvSpPr/>
          <p:nvPr userDrawn="1"/>
        </p:nvSpPr>
        <p:spPr>
          <a:xfrm>
            <a:off x="9483026" y="6575336"/>
            <a:ext cx="2613857" cy="215444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algn="r" latinLnBrk="0">
              <a:spcBef>
                <a:spcPts val="200"/>
              </a:spcBef>
              <a:defRPr/>
            </a:pPr>
            <a:r>
              <a:rPr lang="en-US" altLang="ko-KR" sz="800" kern="0" dirty="0">
                <a:gradFill>
                  <a:gsLst>
                    <a:gs pos="0">
                      <a:srgbClr val="8892AA"/>
                    </a:gs>
                    <a:gs pos="100000">
                      <a:srgbClr val="8892AA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Copyright by </a:t>
            </a:r>
            <a:r>
              <a:rPr lang="en-US" altLang="ko-KR" sz="800" kern="0" dirty="0" err="1">
                <a:gradFill>
                  <a:gsLst>
                    <a:gs pos="0">
                      <a:srgbClr val="8892AA"/>
                    </a:gs>
                    <a:gs pos="100000">
                      <a:srgbClr val="8892AA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Multicampus</a:t>
            </a:r>
            <a:r>
              <a:rPr lang="en-US" altLang="ko-KR" sz="800" kern="0" dirty="0">
                <a:gradFill>
                  <a:gsLst>
                    <a:gs pos="0">
                      <a:srgbClr val="8892AA"/>
                    </a:gs>
                    <a:gs pos="100000">
                      <a:srgbClr val="8892AA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Co.,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010361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안개, 스크린샷, 블러이(가) 표시된 사진&#10;&#10;자동 생성된 설명">
            <a:extLst>
              <a:ext uri="{FF2B5EF4-FFF2-40B4-BE49-F238E27FC236}">
                <a16:creationId xmlns:a16="http://schemas.microsoft.com/office/drawing/2014/main" id="{2A35D6FB-D398-7A51-4503-3D37F1BECC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10" name="Rectangle 17">
            <a:extLst>
              <a:ext uri="{FF2B5EF4-FFF2-40B4-BE49-F238E27FC236}">
                <a16:creationId xmlns:a16="http://schemas.microsoft.com/office/drawing/2014/main" id="{E0921147-30D6-A2BE-E4AF-A9F418AF051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19961" y="6606143"/>
            <a:ext cx="352075" cy="153835"/>
          </a:xfrm>
          <a:prstGeom prst="rect">
            <a:avLst/>
          </a:prstGeom>
          <a:noFill/>
          <a:effectLst/>
        </p:spPr>
        <p:txBody>
          <a:bodyPr vert="horz" wrap="none" lIns="0" tIns="0" rIns="0" bIns="0" rtlCol="0" anchor="ctr">
            <a:noAutofit/>
          </a:bodyPr>
          <a:lstStyle/>
          <a:p>
            <a:pPr marL="0" marR="0" lvl="0" indent="0" algn="ctr" defTabSz="89737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C810E-F784-4439-A0DB-2C7343AB6795}" type="slidenum">
              <a:rPr kumimoji="0" lang="en-US" altLang="ko-KR" sz="801" b="0" i="0" u="none" strike="noStrike" kern="0" cap="none" spc="0" normalizeH="0" baseline="0" noProof="0" smtClean="0">
                <a:ln>
                  <a:solidFill>
                    <a:prstClr val="white">
                      <a:alpha val="0"/>
                    </a:prst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0" scaled="1"/>
                </a:gra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pPr marL="0" marR="0" lvl="0" indent="0" algn="ctr" defTabSz="89737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801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gradFill>
                <a:gsLst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lin ang="0" scaled="1"/>
              </a:gra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9F2655E-BA06-42C9-89F4-B24971E8D281}"/>
              </a:ext>
            </a:extLst>
          </p:cNvPr>
          <p:cNvSpPr/>
          <p:nvPr userDrawn="1"/>
        </p:nvSpPr>
        <p:spPr>
          <a:xfrm>
            <a:off x="9483026" y="6575336"/>
            <a:ext cx="2613857" cy="215444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algn="r" latinLnBrk="0">
              <a:spcBef>
                <a:spcPts val="200"/>
              </a:spcBef>
              <a:defRPr/>
            </a:pPr>
            <a:r>
              <a:rPr lang="en-US" altLang="ko-KR" sz="800" kern="0" dirty="0">
                <a:gradFill>
                  <a:gsLst>
                    <a:gs pos="0">
                      <a:srgbClr val="8892AA"/>
                    </a:gs>
                    <a:gs pos="100000">
                      <a:srgbClr val="8892AA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Copyright by </a:t>
            </a:r>
            <a:r>
              <a:rPr lang="en-US" altLang="ko-KR" sz="800" kern="0" dirty="0" err="1">
                <a:gradFill>
                  <a:gsLst>
                    <a:gs pos="0">
                      <a:srgbClr val="8892AA"/>
                    </a:gs>
                    <a:gs pos="100000">
                      <a:srgbClr val="8892AA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Multicampus</a:t>
            </a:r>
            <a:r>
              <a:rPr lang="en-US" altLang="ko-KR" sz="800" kern="0" dirty="0">
                <a:gradFill>
                  <a:gsLst>
                    <a:gs pos="0">
                      <a:srgbClr val="8892AA"/>
                    </a:gs>
                    <a:gs pos="100000">
                      <a:srgbClr val="8892AA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Co.,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182459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화이트이(가) 표시된 사진&#10;&#10;자동 생성된 설명">
            <a:extLst>
              <a:ext uri="{FF2B5EF4-FFF2-40B4-BE49-F238E27FC236}">
                <a16:creationId xmlns:a16="http://schemas.microsoft.com/office/drawing/2014/main" id="{B2E4F615-D2BE-AF63-DA12-9C28215D55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10" name="Rectangle 17">
            <a:extLst>
              <a:ext uri="{FF2B5EF4-FFF2-40B4-BE49-F238E27FC236}">
                <a16:creationId xmlns:a16="http://schemas.microsoft.com/office/drawing/2014/main" id="{E0921147-30D6-A2BE-E4AF-A9F418AF051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19961" y="6606143"/>
            <a:ext cx="352075" cy="153835"/>
          </a:xfrm>
          <a:prstGeom prst="rect">
            <a:avLst/>
          </a:prstGeom>
          <a:noFill/>
          <a:effectLst/>
        </p:spPr>
        <p:txBody>
          <a:bodyPr vert="horz" wrap="none" lIns="0" tIns="0" rIns="0" bIns="0" rtlCol="0" anchor="ctr">
            <a:noAutofit/>
          </a:bodyPr>
          <a:lstStyle/>
          <a:p>
            <a:pPr marL="0" marR="0" lvl="0" indent="0" algn="ctr" defTabSz="89737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C810E-F784-4439-A0DB-2C7343AB6795}" type="slidenum">
              <a:rPr kumimoji="0" lang="en-US" altLang="ko-KR" sz="801" b="0" i="0" u="none" strike="noStrike" kern="0" cap="none" spc="0" normalizeH="0" baseline="0" noProof="0" smtClean="0">
                <a:ln>
                  <a:solidFill>
                    <a:prstClr val="white">
                      <a:alpha val="0"/>
                    </a:prst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0" scaled="1"/>
                </a:gra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pPr marL="0" marR="0" lvl="0" indent="0" algn="ctr" defTabSz="89737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801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gradFill>
                <a:gsLst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lin ang="0" scaled="1"/>
              </a:gra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9F2655E-BA06-42C9-89F4-B24971E8D281}"/>
              </a:ext>
            </a:extLst>
          </p:cNvPr>
          <p:cNvSpPr/>
          <p:nvPr userDrawn="1"/>
        </p:nvSpPr>
        <p:spPr>
          <a:xfrm>
            <a:off x="9483026" y="6575336"/>
            <a:ext cx="2613857" cy="215444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algn="r" latinLnBrk="0">
              <a:spcBef>
                <a:spcPts val="200"/>
              </a:spcBef>
              <a:defRPr/>
            </a:pPr>
            <a:r>
              <a:rPr lang="en-US" altLang="ko-KR" sz="800" kern="0" dirty="0">
                <a:gradFill>
                  <a:gsLst>
                    <a:gs pos="0">
                      <a:srgbClr val="8892AA"/>
                    </a:gs>
                    <a:gs pos="100000">
                      <a:srgbClr val="8892AA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Copyright by </a:t>
            </a:r>
            <a:r>
              <a:rPr lang="en-US" altLang="ko-KR" sz="800" kern="0" dirty="0" err="1">
                <a:gradFill>
                  <a:gsLst>
                    <a:gs pos="0">
                      <a:srgbClr val="8892AA"/>
                    </a:gs>
                    <a:gs pos="100000">
                      <a:srgbClr val="8892AA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Multicampus</a:t>
            </a:r>
            <a:r>
              <a:rPr lang="en-US" altLang="ko-KR" sz="800" kern="0" dirty="0">
                <a:gradFill>
                  <a:gsLst>
                    <a:gs pos="0">
                      <a:srgbClr val="8892AA"/>
                    </a:gs>
                    <a:gs pos="100000">
                      <a:srgbClr val="8892AA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Co.,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814157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안개, 스크린샷, 화이트, 블러이(가) 표시된 사진&#10;&#10;자동 생성된 설명">
            <a:extLst>
              <a:ext uri="{FF2B5EF4-FFF2-40B4-BE49-F238E27FC236}">
                <a16:creationId xmlns:a16="http://schemas.microsoft.com/office/drawing/2014/main" id="{7B510D6B-B825-5442-AC06-15045E06D2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10" name="Rectangle 17">
            <a:extLst>
              <a:ext uri="{FF2B5EF4-FFF2-40B4-BE49-F238E27FC236}">
                <a16:creationId xmlns:a16="http://schemas.microsoft.com/office/drawing/2014/main" id="{E0921147-30D6-A2BE-E4AF-A9F418AF051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19961" y="6606143"/>
            <a:ext cx="352075" cy="153835"/>
          </a:xfrm>
          <a:prstGeom prst="rect">
            <a:avLst/>
          </a:prstGeom>
          <a:noFill/>
          <a:effectLst/>
        </p:spPr>
        <p:txBody>
          <a:bodyPr vert="horz" wrap="none" lIns="0" tIns="0" rIns="0" bIns="0" rtlCol="0" anchor="ctr">
            <a:noAutofit/>
          </a:bodyPr>
          <a:lstStyle/>
          <a:p>
            <a:pPr marL="0" marR="0" lvl="0" indent="0" algn="ctr" defTabSz="89737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C810E-F784-4439-A0DB-2C7343AB6795}" type="slidenum">
              <a:rPr kumimoji="0" lang="en-US" altLang="ko-KR" sz="801" b="0" i="0" u="none" strike="noStrike" kern="0" cap="none" spc="0" normalizeH="0" baseline="0" noProof="0" smtClean="0">
                <a:ln>
                  <a:solidFill>
                    <a:prstClr val="white">
                      <a:alpha val="0"/>
                    </a:prst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0" scaled="1"/>
                </a:gra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pPr marL="0" marR="0" lvl="0" indent="0" algn="ctr" defTabSz="89737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801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gradFill>
                <a:gsLst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lin ang="0" scaled="1"/>
              </a:gra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9F2655E-BA06-42C9-89F4-B24971E8D281}"/>
              </a:ext>
            </a:extLst>
          </p:cNvPr>
          <p:cNvSpPr/>
          <p:nvPr userDrawn="1"/>
        </p:nvSpPr>
        <p:spPr>
          <a:xfrm>
            <a:off x="9483026" y="6575336"/>
            <a:ext cx="2613857" cy="215444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algn="r" latinLnBrk="0">
              <a:spcBef>
                <a:spcPts val="200"/>
              </a:spcBef>
              <a:defRPr/>
            </a:pPr>
            <a:r>
              <a:rPr lang="en-US" altLang="ko-KR" sz="800" kern="0" dirty="0">
                <a:gradFill>
                  <a:gsLst>
                    <a:gs pos="0">
                      <a:srgbClr val="8892AA"/>
                    </a:gs>
                    <a:gs pos="100000">
                      <a:srgbClr val="8892AA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Copyright by </a:t>
            </a:r>
            <a:r>
              <a:rPr lang="en-US" altLang="ko-KR" sz="800" kern="0" dirty="0" err="1">
                <a:gradFill>
                  <a:gsLst>
                    <a:gs pos="0">
                      <a:srgbClr val="8892AA"/>
                    </a:gs>
                    <a:gs pos="100000">
                      <a:srgbClr val="8892AA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Multicampus</a:t>
            </a:r>
            <a:r>
              <a:rPr lang="en-US" altLang="ko-KR" sz="800" kern="0" dirty="0">
                <a:gradFill>
                  <a:gsLst>
                    <a:gs pos="0">
                      <a:srgbClr val="8892AA"/>
                    </a:gs>
                    <a:gs pos="100000">
                      <a:srgbClr val="8892AA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Co.,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609645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노트북, 디자인이(가) 표시된 사진&#10;&#10;자동 생성된 설명">
            <a:extLst>
              <a:ext uri="{FF2B5EF4-FFF2-40B4-BE49-F238E27FC236}">
                <a16:creationId xmlns:a16="http://schemas.microsoft.com/office/drawing/2014/main" id="{5C40C429-3403-465F-7F02-223CC52A5A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10" name="Rectangle 17">
            <a:extLst>
              <a:ext uri="{FF2B5EF4-FFF2-40B4-BE49-F238E27FC236}">
                <a16:creationId xmlns:a16="http://schemas.microsoft.com/office/drawing/2014/main" id="{E0921147-30D6-A2BE-E4AF-A9F418AF051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19961" y="6606143"/>
            <a:ext cx="352075" cy="153835"/>
          </a:xfrm>
          <a:prstGeom prst="rect">
            <a:avLst/>
          </a:prstGeom>
          <a:noFill/>
          <a:effectLst/>
        </p:spPr>
        <p:txBody>
          <a:bodyPr vert="horz" wrap="none" lIns="0" tIns="0" rIns="0" bIns="0" rtlCol="0" anchor="ctr">
            <a:noAutofit/>
          </a:bodyPr>
          <a:lstStyle/>
          <a:p>
            <a:pPr marL="0" marR="0" lvl="0" indent="0" algn="ctr" defTabSz="89737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C810E-F784-4439-A0DB-2C7343AB6795}" type="slidenum">
              <a:rPr kumimoji="0" lang="en-US" altLang="ko-KR" sz="801" b="0" i="0" u="none" strike="noStrike" kern="0" cap="none" spc="0" normalizeH="0" baseline="0" noProof="0" smtClean="0">
                <a:ln>
                  <a:solidFill>
                    <a:prstClr val="white">
                      <a:alpha val="0"/>
                    </a:prst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0" scaled="1"/>
                </a:gra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pPr marL="0" marR="0" lvl="0" indent="0" algn="ctr" defTabSz="89737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801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gradFill>
                <a:gsLst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lin ang="0" scaled="1"/>
              </a:gra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9F2655E-BA06-42C9-89F4-B24971E8D281}"/>
              </a:ext>
            </a:extLst>
          </p:cNvPr>
          <p:cNvSpPr/>
          <p:nvPr userDrawn="1"/>
        </p:nvSpPr>
        <p:spPr>
          <a:xfrm>
            <a:off x="9483026" y="6575336"/>
            <a:ext cx="2613857" cy="215444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algn="r" latinLnBrk="0">
              <a:spcBef>
                <a:spcPts val="200"/>
              </a:spcBef>
              <a:defRPr/>
            </a:pPr>
            <a:r>
              <a:rPr lang="en-US" altLang="ko-KR" sz="800" kern="0" dirty="0">
                <a:gradFill>
                  <a:gsLst>
                    <a:gs pos="0">
                      <a:srgbClr val="8892AA"/>
                    </a:gs>
                    <a:gs pos="100000">
                      <a:srgbClr val="8892AA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Copyright by </a:t>
            </a:r>
            <a:r>
              <a:rPr lang="en-US" altLang="ko-KR" sz="800" kern="0" dirty="0" err="1">
                <a:gradFill>
                  <a:gsLst>
                    <a:gs pos="0">
                      <a:srgbClr val="8892AA"/>
                    </a:gs>
                    <a:gs pos="100000">
                      <a:srgbClr val="8892AA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Multicampus</a:t>
            </a:r>
            <a:r>
              <a:rPr lang="en-US" altLang="ko-KR" sz="800" kern="0" dirty="0">
                <a:gradFill>
                  <a:gsLst>
                    <a:gs pos="0">
                      <a:srgbClr val="8892AA"/>
                    </a:gs>
                    <a:gs pos="100000">
                      <a:srgbClr val="8892AA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Co.,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484959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사람이(가) 표시된 사진&#10;&#10;자동 생성된 설명">
            <a:extLst>
              <a:ext uri="{FF2B5EF4-FFF2-40B4-BE49-F238E27FC236}">
                <a16:creationId xmlns:a16="http://schemas.microsoft.com/office/drawing/2014/main" id="{0248ACA3-5B5F-5B16-7191-E03435B028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10" name="Rectangle 17">
            <a:extLst>
              <a:ext uri="{FF2B5EF4-FFF2-40B4-BE49-F238E27FC236}">
                <a16:creationId xmlns:a16="http://schemas.microsoft.com/office/drawing/2014/main" id="{E0921147-30D6-A2BE-E4AF-A9F418AF051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19961" y="6606143"/>
            <a:ext cx="352075" cy="153835"/>
          </a:xfrm>
          <a:prstGeom prst="rect">
            <a:avLst/>
          </a:prstGeom>
          <a:noFill/>
          <a:effectLst/>
        </p:spPr>
        <p:txBody>
          <a:bodyPr vert="horz" wrap="none" lIns="0" tIns="0" rIns="0" bIns="0" rtlCol="0" anchor="ctr">
            <a:noAutofit/>
          </a:bodyPr>
          <a:lstStyle/>
          <a:p>
            <a:pPr marL="0" marR="0" lvl="0" indent="0" algn="ctr" defTabSz="89737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C810E-F784-4439-A0DB-2C7343AB6795}" type="slidenum">
              <a:rPr kumimoji="0" lang="en-US" altLang="ko-KR" sz="801" b="0" i="0" u="none" strike="noStrike" kern="0" cap="none" spc="0" normalizeH="0" baseline="0" noProof="0" smtClean="0">
                <a:ln>
                  <a:solidFill>
                    <a:prstClr val="white">
                      <a:alpha val="0"/>
                    </a:prst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0" scaled="1"/>
                </a:gra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pPr marL="0" marR="0" lvl="0" indent="0" algn="ctr" defTabSz="89737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801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gradFill>
                <a:gsLst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lin ang="0" scaled="1"/>
              </a:gra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9F2655E-BA06-42C9-89F4-B24971E8D281}"/>
              </a:ext>
            </a:extLst>
          </p:cNvPr>
          <p:cNvSpPr/>
          <p:nvPr userDrawn="1"/>
        </p:nvSpPr>
        <p:spPr>
          <a:xfrm>
            <a:off x="9483026" y="6575336"/>
            <a:ext cx="2613857" cy="215444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algn="r" latinLnBrk="0">
              <a:spcBef>
                <a:spcPts val="200"/>
              </a:spcBef>
              <a:defRPr/>
            </a:pPr>
            <a:r>
              <a:rPr lang="en-US" altLang="ko-KR" sz="800" kern="0" dirty="0">
                <a:gradFill>
                  <a:gsLst>
                    <a:gs pos="0">
                      <a:srgbClr val="8892AA"/>
                    </a:gs>
                    <a:gs pos="100000">
                      <a:srgbClr val="8892AA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Copyright by </a:t>
            </a:r>
            <a:r>
              <a:rPr lang="en-US" altLang="ko-KR" sz="800" kern="0" dirty="0" err="1">
                <a:gradFill>
                  <a:gsLst>
                    <a:gs pos="0">
                      <a:srgbClr val="8892AA"/>
                    </a:gs>
                    <a:gs pos="100000">
                      <a:srgbClr val="8892AA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Multicampus</a:t>
            </a:r>
            <a:r>
              <a:rPr lang="en-US" altLang="ko-KR" sz="800" kern="0" dirty="0">
                <a:gradFill>
                  <a:gsLst>
                    <a:gs pos="0">
                      <a:srgbClr val="8892AA"/>
                    </a:gs>
                    <a:gs pos="100000">
                      <a:srgbClr val="8892AA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Co.,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759653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4460250-551C-AFC3-CA7A-FB82A44613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143"/>
          </a:xfrm>
          <a:prstGeom prst="rect">
            <a:avLst/>
          </a:prstGeom>
        </p:spPr>
      </p:pic>
      <p:sp>
        <p:nvSpPr>
          <p:cNvPr id="6" name="Rectangle 17">
            <a:extLst>
              <a:ext uri="{FF2B5EF4-FFF2-40B4-BE49-F238E27FC236}">
                <a16:creationId xmlns:a16="http://schemas.microsoft.com/office/drawing/2014/main" id="{ED79BBEF-E92C-97F8-59C4-0B08B2CEE5D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19961" y="6606143"/>
            <a:ext cx="352075" cy="153835"/>
          </a:xfrm>
          <a:prstGeom prst="rect">
            <a:avLst/>
          </a:prstGeom>
          <a:noFill/>
          <a:effectLst/>
        </p:spPr>
        <p:txBody>
          <a:bodyPr vert="horz" wrap="none" lIns="0" tIns="0" rIns="0" bIns="0" rtlCol="0" anchor="ctr">
            <a:noAutofit/>
          </a:bodyPr>
          <a:lstStyle/>
          <a:p>
            <a:pPr marL="0" marR="0" lvl="0" indent="0" algn="ctr" defTabSz="89737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C810E-F784-4439-A0DB-2C7343AB6795}" type="slidenum">
              <a:rPr kumimoji="0" lang="en-US" altLang="ko-KR" sz="801" b="0" i="0" u="none" strike="noStrike" kern="0" cap="none" spc="0" normalizeH="0" baseline="0" noProof="0" smtClean="0">
                <a:ln>
                  <a:solidFill>
                    <a:prstClr val="white">
                      <a:alpha val="0"/>
                    </a:prst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0" scaled="1"/>
                </a:gra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pPr marL="0" marR="0" lvl="0" indent="0" algn="ctr" defTabSz="89737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801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gradFill>
                <a:gsLst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lin ang="0" scaled="1"/>
              </a:gra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20526B9-5080-E1F1-E41F-0D483D150E7B}"/>
              </a:ext>
            </a:extLst>
          </p:cNvPr>
          <p:cNvSpPr/>
          <p:nvPr userDrawn="1"/>
        </p:nvSpPr>
        <p:spPr>
          <a:xfrm>
            <a:off x="9483026" y="6575336"/>
            <a:ext cx="2613857" cy="215444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algn="r" latinLnBrk="0">
              <a:spcBef>
                <a:spcPts val="200"/>
              </a:spcBef>
              <a:defRPr/>
            </a:pPr>
            <a:r>
              <a:rPr lang="en-US" altLang="ko-KR" sz="800" kern="0" dirty="0">
                <a:gradFill>
                  <a:gsLst>
                    <a:gs pos="0">
                      <a:srgbClr val="8892AA"/>
                    </a:gs>
                    <a:gs pos="100000">
                      <a:srgbClr val="8892AA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Copyright by </a:t>
            </a:r>
            <a:r>
              <a:rPr lang="en-US" altLang="ko-KR" sz="800" kern="0" dirty="0" err="1">
                <a:gradFill>
                  <a:gsLst>
                    <a:gs pos="0">
                      <a:srgbClr val="8892AA"/>
                    </a:gs>
                    <a:gs pos="100000">
                      <a:srgbClr val="8892AA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Multicampus</a:t>
            </a:r>
            <a:r>
              <a:rPr lang="en-US" altLang="ko-KR" sz="800" kern="0" dirty="0">
                <a:gradFill>
                  <a:gsLst>
                    <a:gs pos="0">
                      <a:srgbClr val="8892AA"/>
                    </a:gs>
                    <a:gs pos="100000">
                      <a:srgbClr val="8892AA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Co.,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06803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사람이(가) 표시된 사진&#10;&#10;자동 생성된 설명">
            <a:extLst>
              <a:ext uri="{FF2B5EF4-FFF2-40B4-BE49-F238E27FC236}">
                <a16:creationId xmlns:a16="http://schemas.microsoft.com/office/drawing/2014/main" id="{E87535EA-736D-F980-6797-99FB64E80A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6" name="Rectangle 17">
            <a:extLst>
              <a:ext uri="{FF2B5EF4-FFF2-40B4-BE49-F238E27FC236}">
                <a16:creationId xmlns:a16="http://schemas.microsoft.com/office/drawing/2014/main" id="{ED79BBEF-E92C-97F8-59C4-0B08B2CEE5D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19961" y="6606143"/>
            <a:ext cx="352075" cy="153835"/>
          </a:xfrm>
          <a:prstGeom prst="rect">
            <a:avLst/>
          </a:prstGeom>
          <a:noFill/>
          <a:effectLst/>
        </p:spPr>
        <p:txBody>
          <a:bodyPr vert="horz" wrap="none" lIns="0" tIns="0" rIns="0" bIns="0" rtlCol="0" anchor="ctr">
            <a:noAutofit/>
          </a:bodyPr>
          <a:lstStyle/>
          <a:p>
            <a:pPr marL="0" marR="0" lvl="0" indent="0" algn="ctr" defTabSz="89737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C810E-F784-4439-A0DB-2C7343AB6795}" type="slidenum">
              <a:rPr kumimoji="0" lang="en-US" altLang="ko-KR" sz="801" b="0" i="0" u="none" strike="noStrike" kern="0" cap="none" spc="0" normalizeH="0" baseline="0" noProof="0" smtClean="0">
                <a:ln>
                  <a:solidFill>
                    <a:prstClr val="white">
                      <a:alpha val="0"/>
                    </a:prst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0" scaled="1"/>
                </a:gra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pPr marL="0" marR="0" lvl="0" indent="0" algn="ctr" defTabSz="89737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801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gradFill>
                <a:gsLst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lin ang="0" scaled="1"/>
              </a:gra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20526B9-5080-E1F1-E41F-0D483D150E7B}"/>
              </a:ext>
            </a:extLst>
          </p:cNvPr>
          <p:cNvSpPr/>
          <p:nvPr userDrawn="1"/>
        </p:nvSpPr>
        <p:spPr>
          <a:xfrm>
            <a:off x="9483026" y="6575336"/>
            <a:ext cx="2613857" cy="215444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algn="r" latinLnBrk="0">
              <a:spcBef>
                <a:spcPts val="200"/>
              </a:spcBef>
              <a:defRPr/>
            </a:pPr>
            <a:r>
              <a:rPr lang="en-US" altLang="ko-KR" sz="800" kern="0" dirty="0">
                <a:gradFill>
                  <a:gsLst>
                    <a:gs pos="0">
                      <a:srgbClr val="8892AA"/>
                    </a:gs>
                    <a:gs pos="100000">
                      <a:srgbClr val="8892AA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Copyright by </a:t>
            </a:r>
            <a:r>
              <a:rPr lang="en-US" altLang="ko-KR" sz="800" kern="0" dirty="0" err="1">
                <a:gradFill>
                  <a:gsLst>
                    <a:gs pos="0">
                      <a:srgbClr val="8892AA"/>
                    </a:gs>
                    <a:gs pos="100000">
                      <a:srgbClr val="8892AA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Multicampus</a:t>
            </a:r>
            <a:r>
              <a:rPr lang="en-US" altLang="ko-KR" sz="800" kern="0" dirty="0">
                <a:gradFill>
                  <a:gsLst>
                    <a:gs pos="0">
                      <a:srgbClr val="8892AA"/>
                    </a:gs>
                    <a:gs pos="100000">
                      <a:srgbClr val="8892AA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Co.,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180420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378BE5E7-F845-C5BD-CA71-3F6B4AB01F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" y="428"/>
            <a:ext cx="12191980" cy="685713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706227D5-3824-0B5C-C223-134F606BB64E}"/>
              </a:ext>
            </a:extLst>
          </p:cNvPr>
          <p:cNvSpPr/>
          <p:nvPr userDrawn="1"/>
        </p:nvSpPr>
        <p:spPr>
          <a:xfrm>
            <a:off x="8987250" y="6497787"/>
            <a:ext cx="2972930" cy="230832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algn="r" latinLnBrk="0">
              <a:spcBef>
                <a:spcPts val="200"/>
              </a:spcBef>
              <a:defRPr/>
            </a:pPr>
            <a:r>
              <a:rPr lang="en-US" altLang="ko-KR" sz="900" kern="0" spc="20" baseline="0" dirty="0">
                <a:gradFill>
                  <a:gsLst>
                    <a:gs pos="0">
                      <a:schemeClr val="tx1">
                        <a:alpha val="50000"/>
                      </a:schemeClr>
                    </a:gs>
                    <a:gs pos="100000">
                      <a:schemeClr val="tx1">
                        <a:alpha val="50000"/>
                      </a:schemeClr>
                    </a:gs>
                  </a:gsLst>
                  <a:lin ang="5400000" scaled="1"/>
                </a:gradFill>
                <a:latin typeface="나눔스퀘어 Light" panose="020B0600000101010101" pitchFamily="50" charset="-127"/>
                <a:ea typeface="나눔스퀘어 Light" panose="020B0600000101010101" pitchFamily="50" charset="-127"/>
                <a:cs typeface="맑은 고딕 Semilight" panose="020B0502040204020203" pitchFamily="50" charset="-127"/>
              </a:rPr>
              <a:t>Copyright by Multicampus Co.,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5935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엔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43DD037-686F-7007-661E-5D25B73484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" y="428"/>
            <a:ext cx="12191980" cy="685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3442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다리꼴 5"/>
          <p:cNvSpPr/>
          <p:nvPr userDrawn="1"/>
        </p:nvSpPr>
        <p:spPr>
          <a:xfrm flipV="1">
            <a:off x="247386" y="788850"/>
            <a:ext cx="9393674" cy="59815"/>
          </a:xfrm>
          <a:prstGeom prst="trapezoid">
            <a:avLst/>
          </a:prstGeom>
          <a:solidFill>
            <a:srgbClr val="79A2EB"/>
          </a:solidFill>
          <a:ln w="3175">
            <a:solidFill>
              <a:srgbClr val="79A2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108" strike="noStrike" spc="0" dirty="0" err="1">
              <a:solidFill>
                <a:schemeClr val="tx1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7" name="사다리꼴 6"/>
          <p:cNvSpPr/>
          <p:nvPr userDrawn="1"/>
        </p:nvSpPr>
        <p:spPr>
          <a:xfrm flipV="1">
            <a:off x="9648919" y="788849"/>
            <a:ext cx="2304000" cy="59815"/>
          </a:xfrm>
          <a:prstGeom prst="trapezoid">
            <a:avLst/>
          </a:prstGeom>
          <a:solidFill>
            <a:srgbClr val="F5AD77"/>
          </a:solidFill>
          <a:ln w="3175">
            <a:solidFill>
              <a:srgbClr val="F5AD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108" strike="noStrike" spc="0" dirty="0" err="1">
              <a:solidFill>
                <a:schemeClr val="tx1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0"/>
          </p:nvPr>
        </p:nvSpPr>
        <p:spPr>
          <a:xfrm>
            <a:off x="247387" y="262806"/>
            <a:ext cx="8473830" cy="49919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800" b="0" strike="noStrike" spc="0">
                <a:effectLst/>
                <a:latin typeface="Noto Sans KR Medium" panose="020B0600000000000000" pitchFamily="34" charset="-127"/>
                <a:ea typeface="Noto Sans KR Medium" panose="020B0600000000000000" pitchFamily="34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>
          <a:xfrm>
            <a:off x="9640277" y="292100"/>
            <a:ext cx="2481385" cy="469900"/>
          </a:xfrm>
        </p:spPr>
        <p:txBody>
          <a:bodyPr anchor="b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 strike="noStrik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106C2C-E146-AD10-1598-664082067A9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5539896" y="6386357"/>
            <a:ext cx="1112209" cy="365125"/>
          </a:xfrm>
        </p:spPr>
        <p:txBody>
          <a:bodyPr/>
          <a:lstStyle>
            <a:lvl1pPr algn="ctr">
              <a:defRPr/>
            </a:lvl1pPr>
          </a:lstStyle>
          <a:p>
            <a:fld id="{DD791A6D-7EBD-4134-B336-69B4CC3652C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13" name="그림 12" descr="텍스트, 폰트, 그래픽, 로고이(가) 표시된 사진&#10;&#10;자동 생성된 설명">
            <a:extLst>
              <a:ext uri="{FF2B5EF4-FFF2-40B4-BE49-F238E27FC236}">
                <a16:creationId xmlns:a16="http://schemas.microsoft.com/office/drawing/2014/main" id="{E92045E9-BE39-EA7D-9A1E-7584C3AD18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386" y="6472363"/>
            <a:ext cx="856593" cy="27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655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413024"/>
            <a:ext cx="5936868" cy="1096939"/>
          </a:xfrm>
        </p:spPr>
        <p:txBody>
          <a:bodyPr anchor="b">
            <a:noAutofit/>
          </a:bodyPr>
          <a:lstStyle>
            <a:lvl1pPr algn="ctr">
              <a:defRPr sz="4400">
                <a:solidFill>
                  <a:srgbClr val="17479D"/>
                </a:solidFill>
                <a:latin typeface="Noto Sans KR Medium" panose="020B0600000000000000" pitchFamily="34" charset="-127"/>
                <a:ea typeface="Noto Sans KR Medium" panose="020B0600000000000000" pitchFamily="34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1" y="3602038"/>
            <a:ext cx="5995851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latin typeface="Noto Sans KR Medium" panose="020B0600000000000000" pitchFamily="34" charset="-127"/>
                <a:ea typeface="Noto Sans KR Medium" panose="020B0600000000000000" pitchFamily="34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60104-A48A-4FEB-9F10-CE553564245E}" type="datetimeFigureOut">
              <a:rPr lang="ko-KR" altLang="en-US" smtClean="0"/>
              <a:t>2026. 1. 21.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91A6D-7EBD-4134-B336-69B4CC3652C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F86B24B-5D64-4B14-8436-2DCFBFB23B1C}"/>
              </a:ext>
            </a:extLst>
          </p:cNvPr>
          <p:cNvSpPr/>
          <p:nvPr userDrawn="1"/>
        </p:nvSpPr>
        <p:spPr>
          <a:xfrm rot="2611869">
            <a:off x="6095046" y="-2627491"/>
            <a:ext cx="6726112" cy="5464966"/>
          </a:xfrm>
          <a:prstGeom prst="roundRect">
            <a:avLst/>
          </a:prstGeom>
          <a:solidFill>
            <a:srgbClr val="73BD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3F67C30-6713-47E3-9481-AC9D0EB96F9A}"/>
              </a:ext>
            </a:extLst>
          </p:cNvPr>
          <p:cNvSpPr/>
          <p:nvPr userDrawn="1"/>
        </p:nvSpPr>
        <p:spPr>
          <a:xfrm rot="2700000">
            <a:off x="6893223" y="3632777"/>
            <a:ext cx="4919673" cy="6054982"/>
          </a:xfrm>
          <a:prstGeom prst="roundRect">
            <a:avLst/>
          </a:prstGeom>
          <a:solidFill>
            <a:srgbClr val="BBD6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AF8D866-8496-4CAD-AC19-D09F577E2797}"/>
              </a:ext>
            </a:extLst>
          </p:cNvPr>
          <p:cNvSpPr/>
          <p:nvPr userDrawn="1"/>
        </p:nvSpPr>
        <p:spPr>
          <a:xfrm rot="2611869">
            <a:off x="7627523" y="2695869"/>
            <a:ext cx="3467182" cy="2817085"/>
          </a:xfrm>
          <a:prstGeom prst="roundRect">
            <a:avLst/>
          </a:prstGeom>
          <a:solidFill>
            <a:srgbClr val="F5E0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3E1E5D6-D39D-48F1-B941-60134BF0F8BC}"/>
              </a:ext>
            </a:extLst>
          </p:cNvPr>
          <p:cNvSpPr/>
          <p:nvPr userDrawn="1"/>
        </p:nvSpPr>
        <p:spPr>
          <a:xfrm rot="2611869">
            <a:off x="7526046" y="2307500"/>
            <a:ext cx="3611154" cy="2934063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5E0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3920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9990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13" r:id="rId3"/>
    <p:sldLayoutId id="2147483714" r:id="rId4"/>
    <p:sldLayoutId id="2147483716" r:id="rId5"/>
    <p:sldLayoutId id="2147483715" r:id="rId6"/>
    <p:sldLayoutId id="2147483717" r:id="rId7"/>
    <p:sldLayoutId id="2147483718" r:id="rId8"/>
    <p:sldLayoutId id="2147483719" r:id="rId9"/>
    <p:sldLayoutId id="2147483726" r:id="rId10"/>
    <p:sldLayoutId id="2147483723" r:id="rId11"/>
    <p:sldLayoutId id="2147483725" r:id="rId12"/>
    <p:sldLayoutId id="2147483727" r:id="rId13"/>
    <p:sldLayoutId id="2147483728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EC15851-4154-48B9-AE5F-D295A741C864}"/>
              </a:ext>
            </a:extLst>
          </p:cNvPr>
          <p:cNvSpPr txBox="1"/>
          <p:nvPr/>
        </p:nvSpPr>
        <p:spPr>
          <a:xfrm>
            <a:off x="566388" y="736667"/>
            <a:ext cx="6458915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17479D"/>
                </a:solidFill>
                <a:effectLst>
                  <a:glow rad="76200">
                    <a:schemeClr val="bg1">
                      <a:lumMod val="95000"/>
                      <a:alpha val="40000"/>
                    </a:schemeClr>
                  </a:glow>
                </a:effectLst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새싹</a:t>
            </a:r>
            <a:r>
              <a:rPr lang="en-US" altLang="ko-KR" sz="2000" b="1" dirty="0">
                <a:solidFill>
                  <a:srgbClr val="17479D"/>
                </a:solidFill>
                <a:effectLst>
                  <a:glow rad="76200">
                    <a:schemeClr val="bg1">
                      <a:lumMod val="95000"/>
                      <a:alpha val="40000"/>
                    </a:schemeClr>
                  </a:glow>
                </a:effectLst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(</a:t>
            </a:r>
            <a:r>
              <a:rPr lang="en-US" altLang="ko-KR" sz="2000" b="1" dirty="0" err="1">
                <a:solidFill>
                  <a:srgbClr val="17479D"/>
                </a:solidFill>
                <a:effectLst>
                  <a:glow rad="76200">
                    <a:schemeClr val="bg1">
                      <a:lumMod val="95000"/>
                      <a:alpha val="40000"/>
                    </a:schemeClr>
                  </a:glow>
                </a:effectLst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SeSAC</a:t>
            </a:r>
            <a:r>
              <a:rPr lang="en-US" altLang="ko-KR" sz="2000" b="1" dirty="0">
                <a:solidFill>
                  <a:srgbClr val="17479D"/>
                </a:solidFill>
                <a:effectLst>
                  <a:glow rad="76200">
                    <a:schemeClr val="bg1">
                      <a:lumMod val="95000"/>
                      <a:alpha val="40000"/>
                    </a:schemeClr>
                  </a:glow>
                </a:effectLst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) </a:t>
            </a:r>
            <a:r>
              <a:rPr lang="ko-KR" altLang="en-US" sz="2000" b="1" dirty="0">
                <a:solidFill>
                  <a:srgbClr val="17479D"/>
                </a:solidFill>
                <a:effectLst>
                  <a:glow rad="76200">
                    <a:schemeClr val="bg1">
                      <a:lumMod val="95000"/>
                      <a:alpha val="40000"/>
                    </a:schemeClr>
                  </a:glow>
                </a:effectLst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도봉 캠퍼스 </a:t>
            </a:r>
            <a:r>
              <a:rPr lang="en-US" altLang="ko-KR" sz="2000" b="1" dirty="0">
                <a:solidFill>
                  <a:srgbClr val="17479D"/>
                </a:solidFill>
                <a:effectLst>
                  <a:glow rad="76200">
                    <a:schemeClr val="bg1">
                      <a:lumMod val="95000"/>
                      <a:alpha val="40000"/>
                    </a:schemeClr>
                  </a:glow>
                </a:effectLst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3</a:t>
            </a:r>
            <a:r>
              <a:rPr lang="ko-KR" altLang="en-US" sz="2000" b="1" dirty="0">
                <a:solidFill>
                  <a:srgbClr val="17479D"/>
                </a:solidFill>
                <a:effectLst>
                  <a:glow rad="76200">
                    <a:schemeClr val="bg1">
                      <a:lumMod val="95000"/>
                      <a:alpha val="40000"/>
                    </a:schemeClr>
                  </a:glow>
                </a:effectLst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기</a:t>
            </a:r>
            <a:endParaRPr lang="en-US" altLang="ko-KR" sz="2000" b="1" dirty="0">
              <a:solidFill>
                <a:srgbClr val="17479D"/>
              </a:solidFill>
              <a:effectLst>
                <a:glow rad="76200">
                  <a:schemeClr val="bg1">
                    <a:lumMod val="95000"/>
                    <a:alpha val="40000"/>
                  </a:schemeClr>
                </a:glow>
              </a:effectLst>
              <a:latin typeface="Pretendard ExtraBold" panose="02000503000000020004" pitchFamily="2" charset="-127"/>
              <a:ea typeface="Pretendard ExtraBold" panose="02000503000000020004" pitchFamily="2" charset="-127"/>
              <a:cs typeface="Pretendard ExtraBol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9E9F86-0084-BC90-B6B5-E5A7C8365FF9}"/>
              </a:ext>
            </a:extLst>
          </p:cNvPr>
          <p:cNvSpPr txBox="1"/>
          <p:nvPr/>
        </p:nvSpPr>
        <p:spPr>
          <a:xfrm>
            <a:off x="566387" y="1216451"/>
            <a:ext cx="9346037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rgbClr val="17479D"/>
                </a:solidFill>
                <a:effectLst>
                  <a:glow rad="76200">
                    <a:schemeClr val="bg1">
                      <a:lumMod val="95000"/>
                      <a:alpha val="40000"/>
                    </a:schemeClr>
                  </a:glow>
                </a:effectLst>
                <a:latin typeface="Noto Sans KR" panose="020B0500000000000000" pitchFamily="34" charset="-127"/>
                <a:ea typeface="Noto Sans KR" panose="020B0500000000000000" pitchFamily="34" charset="-127"/>
                <a:cs typeface="Arial" panose="020B0604020202020204" pitchFamily="34" charset="0"/>
              </a:defRPr>
            </a:lvl1pPr>
          </a:lstStyle>
          <a:p>
            <a:r>
              <a:rPr lang="en-US" altLang="ko-KR" sz="2800" dirty="0"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Chat GPT</a:t>
            </a:r>
            <a:r>
              <a:rPr lang="ko-KR" altLang="en-US" sz="2800" dirty="0" err="1"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를</a:t>
            </a:r>
            <a:r>
              <a:rPr lang="ko-KR" altLang="en-US" sz="2800" dirty="0"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활용한 </a:t>
            </a:r>
            <a:r>
              <a:rPr lang="en-US" altLang="ko-KR" sz="2800" dirty="0"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LLM</a:t>
            </a:r>
            <a:r>
              <a:rPr lang="ko-KR" altLang="en-US" sz="2800" dirty="0"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기반 </a:t>
            </a:r>
            <a:r>
              <a:rPr lang="en-US" altLang="ko-KR" sz="2800" dirty="0"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AI</a:t>
            </a:r>
            <a:r>
              <a:rPr lang="ko-KR" altLang="en-US" sz="2800" dirty="0"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서비스 개발자 양성과정</a:t>
            </a:r>
            <a:endParaRPr lang="en-US" altLang="ko-KR" sz="2800" dirty="0">
              <a:latin typeface="Pretendard ExtraBold" panose="02000503000000020004" pitchFamily="2" charset="-127"/>
              <a:ea typeface="Pretendard ExtraBold" panose="02000503000000020004" pitchFamily="2" charset="-127"/>
              <a:cs typeface="Pretendard ExtraBol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69C1F3-A2E0-AAC8-60CC-B3C66263ED73}"/>
              </a:ext>
            </a:extLst>
          </p:cNvPr>
          <p:cNvSpPr txBox="1"/>
          <p:nvPr/>
        </p:nvSpPr>
        <p:spPr>
          <a:xfrm>
            <a:off x="563964" y="2191502"/>
            <a:ext cx="7369929" cy="991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4400" b="1" dirty="0">
                <a:solidFill>
                  <a:schemeClr val="bg2">
                    <a:lumMod val="25000"/>
                  </a:schemeClr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최종프로젝트 및 멘토링 안내</a:t>
            </a:r>
            <a:endParaRPr lang="en-US" altLang="ko-KR" sz="4400" b="1" dirty="0">
              <a:solidFill>
                <a:schemeClr val="bg2">
                  <a:lumMod val="25000"/>
                </a:schemeClr>
              </a:solidFill>
              <a:latin typeface="Pretendard ExtraBold" panose="02000503000000020004" pitchFamily="2" charset="-127"/>
              <a:ea typeface="Pretendard ExtraBold" panose="02000503000000020004" pitchFamily="2" charset="-127"/>
              <a:cs typeface="Pretendard ExtraBold" panose="02000503000000020004" pitchFamily="2" charset="-127"/>
            </a:endParaRPr>
          </a:p>
        </p:txBody>
      </p:sp>
      <p:pic>
        <p:nvPicPr>
          <p:cNvPr id="1026" name="Picture 2" descr="청년취업사관학교">
            <a:extLst>
              <a:ext uri="{FF2B5EF4-FFF2-40B4-BE49-F238E27FC236}">
                <a16:creationId xmlns:a16="http://schemas.microsoft.com/office/drawing/2014/main" id="{AF4DA8E2-05AD-351E-E75F-5EE8A78A18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8188" y="2191502"/>
            <a:ext cx="3144415" cy="3144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5723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4CD2C-1F24-F64A-73F2-5EBBB64A1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DA71171-2A71-97CB-29B0-7D67544BAF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</a:t>
            </a:r>
            <a:r>
              <a:rPr lang="en-US" altLang="ko-KR" sz="2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</a:t>
            </a:r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최종프로젝트 일정</a:t>
            </a:r>
            <a:endParaRPr lang="en-US" altLang="ko-KR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D60955-26E7-B54E-7A16-DF1AF40C56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28248" y="368660"/>
            <a:ext cx="2662445" cy="301236"/>
          </a:xfrm>
        </p:spPr>
        <p:txBody>
          <a:bodyPr>
            <a:normAutofit/>
          </a:bodyPr>
          <a:lstStyle/>
          <a:p>
            <a:r>
              <a:rPr lang="en-US" altLang="ko-KR" sz="1100" dirty="0"/>
              <a:t>* </a:t>
            </a:r>
            <a:r>
              <a:rPr lang="ko-KR" altLang="en-US" sz="1100" dirty="0"/>
              <a:t>일정에 따라 세부 시간 변동 가능함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131DD5A-A0B2-8992-71E8-39573AAA6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992422"/>
              </p:ext>
            </p:extLst>
          </p:nvPr>
        </p:nvGraphicFramePr>
        <p:xfrm>
          <a:off x="443372" y="1016732"/>
          <a:ext cx="9036793" cy="5436827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5041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32682">
                  <a:extLst>
                    <a:ext uri="{9D8B030D-6E8A-4147-A177-3AD203B41FA5}">
                      <a16:colId xmlns:a16="http://schemas.microsoft.com/office/drawing/2014/main" val="2257172588"/>
                    </a:ext>
                  </a:extLst>
                </a:gridCol>
              </a:tblGrid>
              <a:tr h="4750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i="0" kern="1200" dirty="0">
                          <a:gradFill>
                            <a:gsLst>
                              <a:gs pos="0">
                                <a:schemeClr val="accent1">
                                  <a:lumMod val="5000"/>
                                  <a:lumOff val="95000"/>
                                </a:schemeClr>
                              </a:gs>
                              <a:gs pos="100000">
                                <a:schemeClr val="bg1"/>
                              </a:gs>
                            </a:gsLst>
                            <a:lin ang="5400000" scaled="1"/>
                          </a:gra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일정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D7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i="0" kern="1200" dirty="0">
                          <a:gradFill>
                            <a:gsLst>
                              <a:gs pos="0">
                                <a:schemeClr val="accent1">
                                  <a:lumMod val="5000"/>
                                  <a:lumOff val="95000"/>
                                </a:schemeClr>
                              </a:gs>
                              <a:gs pos="100000">
                                <a:schemeClr val="bg1"/>
                              </a:gs>
                            </a:gsLst>
                            <a:lin ang="5400000" scaled="1"/>
                          </a:gra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내용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D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2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dirty="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2/2(</a:t>
                      </a:r>
                      <a:r>
                        <a:rPr lang="ko-KR" altLang="en-US" sz="1800" b="0" i="0" dirty="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월</a:t>
                      </a:r>
                      <a:r>
                        <a:rPr lang="en-US" altLang="ko-KR" sz="1800" b="0" i="0" dirty="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)~2/6(</a:t>
                      </a:r>
                      <a:r>
                        <a:rPr lang="ko-KR" altLang="en-US" sz="1800" b="0" i="0" dirty="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금</a:t>
                      </a:r>
                      <a:r>
                        <a:rPr lang="en-US" altLang="ko-KR" sz="1800" b="0" i="0" dirty="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)</a:t>
                      </a:r>
                      <a:endParaRPr lang="ko-KR" altLang="en-US" sz="1800" b="0" i="0" dirty="0"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최종프로젝트 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1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주차</a:t>
                      </a:r>
                      <a:endParaRPr lang="en-US" altLang="ko-KR" sz="1800" b="0" i="0" kern="1200" dirty="0">
                        <a:solidFill>
                          <a:schemeClr val="tx1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223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800" b="0" i="0" dirty="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2/7(</a:t>
                      </a:r>
                      <a:r>
                        <a:rPr lang="ko-KR" altLang="en-US" sz="1800" b="0" i="0" dirty="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토</a:t>
                      </a:r>
                      <a:r>
                        <a:rPr lang="en-US" altLang="ko-KR" sz="1800" b="0" i="0" dirty="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)</a:t>
                      </a:r>
                      <a:endParaRPr lang="ko-KR" altLang="en-US" sz="1800" b="0" i="0" kern="1200" dirty="0">
                        <a:solidFill>
                          <a:schemeClr val="dk1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i="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최종프로젝트 멘토링 </a:t>
                      </a:r>
                      <a:r>
                        <a:rPr lang="en-US" altLang="ko-KR" b="0" i="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1</a:t>
                      </a:r>
                      <a:r>
                        <a:rPr lang="ko-KR" altLang="en-US" b="0" i="0" dirty="0" err="1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회차</a:t>
                      </a:r>
                      <a:r>
                        <a:rPr lang="ko-KR" altLang="en-US" b="0" i="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 </a:t>
                      </a:r>
                      <a:r>
                        <a:rPr lang="en-US" altLang="ko-KR" b="0" i="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&amp;</a:t>
                      </a:r>
                      <a:r>
                        <a:rPr lang="ko-KR" altLang="en-US" b="0" i="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 포트폴리오 멘토링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5334934"/>
                  </a:ext>
                </a:extLst>
              </a:tr>
              <a:tr h="620223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800" b="0" i="0" dirty="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2/10(</a:t>
                      </a:r>
                      <a:r>
                        <a:rPr lang="ko-KR" altLang="en-US" sz="1800" b="0" i="0" dirty="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화</a:t>
                      </a:r>
                      <a:r>
                        <a:rPr lang="en-US" altLang="ko-KR" sz="1800" b="0" i="0" dirty="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)~2/13(</a:t>
                      </a:r>
                      <a:r>
                        <a:rPr lang="ko-KR" altLang="en-US" sz="1800" b="0" i="0" dirty="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금</a:t>
                      </a:r>
                      <a:r>
                        <a:rPr lang="en-US" altLang="ko-KR" sz="1800" b="0" i="0" dirty="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)</a:t>
                      </a:r>
                      <a:endParaRPr lang="ko-KR" altLang="en-US" sz="1800" b="0" i="0" kern="1200" dirty="0">
                        <a:solidFill>
                          <a:schemeClr val="dk1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최종프로젝트 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2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주차</a:t>
                      </a:r>
                      <a:endParaRPr lang="en-US" altLang="ko-KR" sz="1800" b="0" i="0" kern="1200" dirty="0">
                        <a:solidFill>
                          <a:schemeClr val="tx1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0009712"/>
                  </a:ext>
                </a:extLst>
              </a:tr>
              <a:tr h="6202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dirty="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2/14(</a:t>
                      </a:r>
                      <a:r>
                        <a:rPr lang="ko-KR" altLang="en-US" sz="1800" b="0" i="0" dirty="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토</a:t>
                      </a:r>
                      <a:r>
                        <a:rPr lang="en-US" altLang="ko-KR" sz="1800" b="0" i="0" dirty="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)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i="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최종프로젝트 멘토링 </a:t>
                      </a:r>
                      <a:r>
                        <a:rPr lang="en-US" altLang="ko-KR" b="0" i="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2</a:t>
                      </a:r>
                      <a:r>
                        <a:rPr lang="ko-KR" altLang="en-US" b="0" i="0" dirty="0" err="1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회차</a:t>
                      </a:r>
                      <a:r>
                        <a:rPr lang="ko-KR" altLang="en-US" b="0" i="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 </a:t>
                      </a:r>
                      <a:r>
                        <a:rPr lang="en-US" altLang="ko-KR" b="0" i="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&amp;</a:t>
                      </a:r>
                      <a:r>
                        <a:rPr lang="ko-KR" altLang="en-US" b="0" i="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 포트폴리오 멘토링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223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800" b="0" i="0" dirty="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2/19(</a:t>
                      </a:r>
                      <a:r>
                        <a:rPr lang="ko-KR" altLang="en-US" sz="1800" b="0" i="0" dirty="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목</a:t>
                      </a:r>
                      <a:r>
                        <a:rPr lang="en-US" altLang="ko-KR" sz="1800" b="0" i="0" dirty="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)~2/20(</a:t>
                      </a:r>
                      <a:r>
                        <a:rPr lang="ko-KR" altLang="en-US" sz="1800" b="0" i="0" dirty="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금</a:t>
                      </a:r>
                      <a:r>
                        <a:rPr lang="en-US" altLang="ko-KR" sz="1800" b="0" i="0" dirty="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)</a:t>
                      </a:r>
                      <a:endParaRPr lang="ko-KR" altLang="en-US" sz="1800" b="0" i="0" kern="1200" dirty="0">
                        <a:solidFill>
                          <a:schemeClr val="dk1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최종프로젝트 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3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주차</a:t>
                      </a:r>
                      <a:endParaRPr lang="en-US" altLang="ko-KR" sz="1800" b="0" i="0" kern="1200" dirty="0">
                        <a:solidFill>
                          <a:schemeClr val="tx1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8576231"/>
                  </a:ext>
                </a:extLst>
              </a:tr>
              <a:tr h="6202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dirty="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2/21(</a:t>
                      </a:r>
                      <a:r>
                        <a:rPr lang="ko-KR" altLang="en-US" sz="1800" b="0" i="0" dirty="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토</a:t>
                      </a:r>
                      <a:r>
                        <a:rPr lang="en-US" altLang="ko-KR" sz="1800" b="0" i="0" dirty="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)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i="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최종프로젝트 멘토링 </a:t>
                      </a:r>
                      <a:r>
                        <a:rPr lang="en-US" altLang="ko-KR" b="0" i="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3</a:t>
                      </a:r>
                      <a:r>
                        <a:rPr lang="ko-KR" altLang="en-US" b="0" i="0" dirty="0" err="1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회차</a:t>
                      </a:r>
                      <a:r>
                        <a:rPr lang="ko-KR" altLang="en-US" b="0" i="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 </a:t>
                      </a:r>
                      <a:r>
                        <a:rPr lang="en-US" altLang="ko-KR" b="0" i="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&amp;</a:t>
                      </a:r>
                      <a:r>
                        <a:rPr lang="ko-KR" altLang="en-US" b="0" i="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 포트폴리오 멘토링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1002606"/>
                  </a:ext>
                </a:extLst>
              </a:tr>
              <a:tr h="62022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dirty="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2/23(</a:t>
                      </a:r>
                      <a:r>
                        <a:rPr lang="ko-KR" altLang="en-US" sz="1800" b="0" i="0" dirty="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월</a:t>
                      </a:r>
                      <a:r>
                        <a:rPr lang="en-US" altLang="ko-KR" sz="1800" b="0" i="0" dirty="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)~2/27(</a:t>
                      </a:r>
                      <a:r>
                        <a:rPr lang="ko-KR" altLang="en-US" sz="1800" b="0" i="0" dirty="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금</a:t>
                      </a:r>
                      <a:r>
                        <a:rPr lang="en-US" altLang="ko-KR" sz="1800" b="0" i="0" dirty="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)</a:t>
                      </a:r>
                      <a:endParaRPr lang="ko-KR" altLang="en-US" sz="1800" b="0" i="0" kern="1200" dirty="0">
                        <a:solidFill>
                          <a:schemeClr val="dk1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최종프로젝트 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4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주차</a:t>
                      </a:r>
                      <a:endParaRPr lang="en-US" altLang="ko-KR" sz="1800" b="0" i="0" kern="1200" dirty="0">
                        <a:solidFill>
                          <a:schemeClr val="tx1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4756382"/>
                  </a:ext>
                </a:extLst>
              </a:tr>
              <a:tr h="6202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dirty="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2/28(</a:t>
                      </a:r>
                      <a:r>
                        <a:rPr lang="ko-KR" altLang="en-US" sz="1800" b="0" i="0" dirty="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토</a:t>
                      </a:r>
                      <a:r>
                        <a:rPr lang="en-US" altLang="ko-KR" sz="1800" b="0" i="0" dirty="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)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i="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최종프로젝트 멘토링 </a:t>
                      </a:r>
                      <a:r>
                        <a:rPr lang="en-US" altLang="ko-KR" sz="1800" b="0" i="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4</a:t>
                      </a:r>
                      <a:r>
                        <a:rPr lang="ko-KR" altLang="en-US" sz="1800" b="0" i="0" dirty="0" err="1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회차</a:t>
                      </a:r>
                      <a:r>
                        <a:rPr lang="ko-KR" altLang="en-US" sz="1800" b="0" i="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 </a:t>
                      </a:r>
                      <a:r>
                        <a:rPr lang="en-US" altLang="ko-KR" sz="1800" b="0" i="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&amp;</a:t>
                      </a:r>
                      <a:r>
                        <a:rPr lang="ko-KR" altLang="en-US" sz="1800" b="0" i="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 포트폴리오 멘토링</a:t>
                      </a:r>
                      <a:endParaRPr lang="ko-KR" altLang="en-US" sz="1800" b="0" i="0" kern="1200" dirty="0">
                        <a:solidFill>
                          <a:srgbClr val="0070C0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9583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5817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AFE0A-294F-91ED-3C60-32AB0AD0F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5ADD1BE-BEEC-743B-E509-50BFF2EFD8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</a:t>
            </a:r>
            <a:r>
              <a:rPr lang="en-US" altLang="ko-KR" sz="2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</a:t>
            </a:r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최종프로젝트 일정</a:t>
            </a:r>
            <a:endParaRPr lang="en-US" altLang="ko-KR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C7DC36-A775-C6D2-8ECD-0E6C937824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28248" y="368660"/>
            <a:ext cx="2662445" cy="301236"/>
          </a:xfrm>
        </p:spPr>
        <p:txBody>
          <a:bodyPr>
            <a:normAutofit/>
          </a:bodyPr>
          <a:lstStyle/>
          <a:p>
            <a:r>
              <a:rPr lang="en-US" altLang="ko-KR" sz="1100" dirty="0"/>
              <a:t>* </a:t>
            </a:r>
            <a:r>
              <a:rPr lang="ko-KR" altLang="en-US" sz="1100" dirty="0"/>
              <a:t>일정에 따라 세부 시간 변동 가능함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7C1A352-FEF2-1581-13AA-47C9C8AD42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40279"/>
              </p:ext>
            </p:extLst>
          </p:nvPr>
        </p:nvGraphicFramePr>
        <p:xfrm>
          <a:off x="443583" y="1088740"/>
          <a:ext cx="9036793" cy="3576158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5041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32682">
                  <a:extLst>
                    <a:ext uri="{9D8B030D-6E8A-4147-A177-3AD203B41FA5}">
                      <a16:colId xmlns:a16="http://schemas.microsoft.com/office/drawing/2014/main" val="2257172588"/>
                    </a:ext>
                  </a:extLst>
                </a:gridCol>
              </a:tblGrid>
              <a:tr h="4750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i="0" kern="1200" dirty="0">
                          <a:gradFill>
                            <a:gsLst>
                              <a:gs pos="0">
                                <a:schemeClr val="accent1">
                                  <a:lumMod val="5000"/>
                                  <a:lumOff val="95000"/>
                                </a:schemeClr>
                              </a:gs>
                              <a:gs pos="100000">
                                <a:schemeClr val="bg1"/>
                              </a:gs>
                            </a:gsLst>
                            <a:lin ang="5400000" scaled="1"/>
                          </a:gra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일정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D7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i="0" kern="1200" dirty="0">
                          <a:gradFill>
                            <a:gsLst>
                              <a:gs pos="0">
                                <a:schemeClr val="accent1">
                                  <a:lumMod val="5000"/>
                                  <a:lumOff val="95000"/>
                                </a:schemeClr>
                              </a:gs>
                              <a:gs pos="100000">
                                <a:schemeClr val="bg1"/>
                              </a:gs>
                            </a:gsLst>
                            <a:lin ang="5400000" scaled="1"/>
                          </a:gra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내용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D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2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dirty="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3/3(</a:t>
                      </a:r>
                      <a:r>
                        <a:rPr lang="ko-KR" altLang="en-US" sz="1800" b="0" i="0" dirty="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화</a:t>
                      </a:r>
                      <a:r>
                        <a:rPr lang="en-US" altLang="ko-KR" sz="1800" b="0" i="0" dirty="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)~3/6(</a:t>
                      </a:r>
                      <a:r>
                        <a:rPr lang="ko-KR" altLang="en-US" sz="1800" b="0" i="0" dirty="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금</a:t>
                      </a:r>
                      <a:r>
                        <a:rPr lang="en-US" altLang="ko-KR" sz="1800" b="0" i="0" dirty="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)</a:t>
                      </a:r>
                      <a:endParaRPr lang="ko-KR" altLang="en-US" sz="1800" b="0" i="0" dirty="0"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최종프로젝트 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5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주차</a:t>
                      </a:r>
                      <a:endParaRPr lang="en-US" altLang="ko-KR" sz="1800" b="0" i="0" kern="1200" dirty="0">
                        <a:solidFill>
                          <a:schemeClr val="tx1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223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800" b="0" i="0" dirty="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3/7(</a:t>
                      </a:r>
                      <a:r>
                        <a:rPr lang="ko-KR" altLang="en-US" sz="1800" b="0" i="0" dirty="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토</a:t>
                      </a:r>
                      <a:r>
                        <a:rPr lang="en-US" altLang="ko-KR" sz="1800" b="0" i="0" dirty="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)</a:t>
                      </a:r>
                      <a:endParaRPr lang="ko-KR" altLang="en-US" sz="1800" b="0" i="0" kern="1200" dirty="0">
                        <a:solidFill>
                          <a:schemeClr val="dk1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i="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최종프로젝트 멘토링 </a:t>
                      </a:r>
                      <a:r>
                        <a:rPr lang="en-US" altLang="ko-KR" b="0" i="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5</a:t>
                      </a:r>
                      <a:r>
                        <a:rPr lang="ko-KR" altLang="en-US" b="0" i="0" dirty="0" err="1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회차</a:t>
                      </a:r>
                      <a:r>
                        <a:rPr lang="ko-KR" altLang="en-US" b="0" i="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 </a:t>
                      </a:r>
                      <a:r>
                        <a:rPr lang="en-US" altLang="ko-KR" b="0" i="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&amp;</a:t>
                      </a:r>
                      <a:r>
                        <a:rPr lang="ko-KR" altLang="en-US" b="0" i="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 포트폴리오 멘토링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5334934"/>
                  </a:ext>
                </a:extLst>
              </a:tr>
              <a:tr h="620223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3/10(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화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)~3/13(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금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)</a:t>
                      </a:r>
                      <a:endParaRPr lang="ko-KR" altLang="en-US" sz="1800" b="0" i="0" kern="1200" dirty="0">
                        <a:solidFill>
                          <a:schemeClr val="dk1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최종프로젝트 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6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주차</a:t>
                      </a:r>
                      <a:endParaRPr lang="en-US" altLang="ko-KR" sz="1800" b="0" i="0" kern="1200" dirty="0">
                        <a:solidFill>
                          <a:schemeClr val="tx1"/>
                        </a:solidFill>
                        <a:highlight>
                          <a:srgbClr val="DAE7F7"/>
                        </a:highlight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0009712"/>
                  </a:ext>
                </a:extLst>
              </a:tr>
              <a:tr h="6202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3/14(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토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)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i="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포트폴리오 멘토링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2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3/16(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월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)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i="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프로젝트 발표 및 종강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10026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631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6FBE7-20CE-94F7-4A1F-89FB49AC5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60A91A4-06E1-2718-B1AB-F43822A5AC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</a:t>
            </a:r>
            <a:r>
              <a:rPr lang="en-US" altLang="ko-KR" sz="2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</a:t>
            </a:r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최종프로젝트 팀 구성방식</a:t>
            </a:r>
            <a:endParaRPr lang="en-US" altLang="ko-KR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665B20-E93A-1155-E011-AF43D25D333D}"/>
              </a:ext>
            </a:extLst>
          </p:cNvPr>
          <p:cNvSpPr txBox="1"/>
          <p:nvPr/>
        </p:nvSpPr>
        <p:spPr>
          <a:xfrm>
            <a:off x="473874" y="1124744"/>
            <a:ext cx="11562786" cy="301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2000" b="1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최종 프로젝트 팀 구성방식 소개</a:t>
            </a:r>
            <a:endParaRPr lang="en-US" altLang="ko-KR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342900" indent="-342900" latinLnBrk="1">
              <a:buFontTx/>
              <a:buAutoNum type="arabicPeriod"/>
            </a:pPr>
            <a:r>
              <a:rPr lang="ko-KR" altLang="en-US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팀당 인원 </a:t>
            </a:r>
            <a:r>
              <a:rPr lang="en-US" altLang="ko-KR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4-5</a:t>
            </a:r>
            <a:r>
              <a:rPr lang="ko-KR" altLang="en-US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명으로 구성</a:t>
            </a:r>
            <a:endParaRPr lang="en-US" altLang="ko-KR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342900" indent="-342900" latinLnBrk="1">
              <a:buFontTx/>
              <a:buAutoNum type="arabicPeriod"/>
            </a:pPr>
            <a:r>
              <a:rPr lang="ko-KR" altLang="en-US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실무연계프로젝트</a:t>
            </a:r>
            <a:r>
              <a:rPr lang="en-US" altLang="ko-KR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</a:t>
            </a:r>
            <a:r>
              <a:rPr lang="ko-KR" altLang="en-US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자유주제</a:t>
            </a:r>
            <a:r>
              <a:rPr lang="en-US" altLang="ko-KR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1(</a:t>
            </a:r>
            <a:r>
              <a:rPr lang="ko-KR" altLang="en-US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이상호 멘토</a:t>
            </a:r>
            <a:r>
              <a:rPr lang="en-US" altLang="ko-KR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),</a:t>
            </a:r>
            <a:r>
              <a:rPr lang="ko-KR" altLang="en-US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자유주제</a:t>
            </a:r>
            <a:r>
              <a:rPr lang="en-US" altLang="ko-KR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2(</a:t>
            </a:r>
            <a:r>
              <a:rPr lang="ko-KR" altLang="en-US" dirty="0" err="1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차예솔</a:t>
            </a:r>
            <a:r>
              <a:rPr lang="ko-KR" altLang="en-US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멘토</a:t>
            </a:r>
            <a:r>
              <a:rPr lang="en-US" altLang="ko-KR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</a:t>
            </a:r>
            <a:r>
              <a:rPr lang="ko-KR" altLang="en-US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중 </a:t>
            </a:r>
            <a:r>
              <a:rPr lang="en-US" altLang="ko-KR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1</a:t>
            </a:r>
            <a:r>
              <a:rPr lang="ko-KR" altLang="en-US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지망</a:t>
            </a:r>
            <a:r>
              <a:rPr lang="en-US" altLang="ko-KR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</a:t>
            </a:r>
            <a:r>
              <a:rPr lang="ko-KR" altLang="en-US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2</a:t>
            </a:r>
            <a:r>
              <a:rPr lang="ko-KR" altLang="en-US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지망</a:t>
            </a:r>
            <a:r>
              <a:rPr lang="en-US" altLang="ko-KR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</a:t>
            </a:r>
            <a:r>
              <a:rPr lang="ko-KR" altLang="en-US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3</a:t>
            </a:r>
            <a:r>
              <a:rPr lang="ko-KR" altLang="en-US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지망 및 프로젝트 관련 설문조사 제출 </a:t>
            </a:r>
            <a:endParaRPr lang="en-US" altLang="ko-KR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342900" indent="-342900" latinLnBrk="1">
              <a:buFontTx/>
              <a:buAutoNum type="arabicPeriod"/>
            </a:pPr>
            <a:r>
              <a:rPr lang="ko-KR" altLang="en-US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제출되어진 설문조사를 아래의 우선순위에 맞게 배정</a:t>
            </a:r>
            <a:endParaRPr lang="en-US" altLang="ko-KR" sz="1400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latinLnBrk="1"/>
            <a:endParaRPr lang="en-US" altLang="ko-KR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latinLnBrk="1"/>
            <a:r>
              <a:rPr lang="ko-KR" altLang="en-US" sz="2000" b="1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팀 </a:t>
            </a:r>
            <a:r>
              <a:rPr lang="ko-KR" altLang="en-US" sz="2000" b="1" dirty="0" err="1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구성시</a:t>
            </a:r>
            <a:r>
              <a:rPr lang="ko-KR" altLang="en-US" sz="2000" b="1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우선순위</a:t>
            </a:r>
            <a:endParaRPr lang="en-US" altLang="ko-KR" sz="2000" b="1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342900" indent="-342900" latinLnBrk="1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최대한 지망에 맞게끔 팀을 배정</a:t>
            </a:r>
            <a:endParaRPr lang="en-US" altLang="ko-KR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342900" indent="-342900" latinLnBrk="1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800" b="0" i="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피하고 싶은 </a:t>
            </a:r>
            <a:r>
              <a:rPr lang="ko-KR" altLang="en-US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수강생 반영</a:t>
            </a:r>
            <a:endParaRPr lang="en-US" altLang="ko-KR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342900" indent="-342900" latinLnBrk="1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만약 특정 팀 지망이 너무 많이 편중되어 인원이 조정되어야 </a:t>
            </a:r>
            <a:r>
              <a:rPr lang="ko-KR" altLang="en-US" dirty="0" err="1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하는경우</a:t>
            </a:r>
            <a:r>
              <a:rPr lang="en-US" altLang="ko-KR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</a:t>
            </a:r>
            <a:r>
              <a:rPr lang="ko-KR" altLang="en-US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출석우수자를 선제적으로 배정 </a:t>
            </a:r>
            <a:endParaRPr lang="en-US" altLang="ko-KR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4995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B5AFD24-5012-F68B-4026-86B7B37688E5}"/>
              </a:ext>
            </a:extLst>
          </p:cNvPr>
          <p:cNvSpPr txBox="1">
            <a:spLocks/>
          </p:cNvSpPr>
          <p:nvPr/>
        </p:nvSpPr>
        <p:spPr>
          <a:xfrm>
            <a:off x="227348" y="357794"/>
            <a:ext cx="3021375" cy="5149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II. </a:t>
            </a:r>
            <a:r>
              <a:rPr lang="ko-KR" altLang="en-US" b="1" dirty="0" err="1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</a:gra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멘토소개</a:t>
            </a:r>
            <a:r>
              <a:rPr lang="en-US" altLang="ko-KR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</a:gra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-1</a:t>
            </a:r>
            <a:r>
              <a:rPr lang="ko-KR" alt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</a:gra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endParaRPr lang="ko-KR" altLang="en-US" sz="1800" b="1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</a:gradFill>
              <a:latin typeface="Pretendard ExtraBold" panose="02000503000000020004" pitchFamily="2" charset="-127"/>
              <a:ea typeface="Pretendard ExtraBold" panose="02000503000000020004" pitchFamily="2" charset="-127"/>
              <a:cs typeface="Pretendard ExtraBold" panose="02000503000000020004" pitchFamily="2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BE8CE32-5840-1DED-00C9-6BCE96234824}"/>
              </a:ext>
            </a:extLst>
          </p:cNvPr>
          <p:cNvCxnSpPr>
            <a:cxnSpLocks/>
          </p:cNvCxnSpPr>
          <p:nvPr/>
        </p:nvCxnSpPr>
        <p:spPr>
          <a:xfrm flipH="1">
            <a:off x="410324" y="952626"/>
            <a:ext cx="11341295" cy="0"/>
          </a:xfrm>
          <a:prstGeom prst="line">
            <a:avLst/>
          </a:prstGeom>
          <a:ln w="6350">
            <a:solidFill>
              <a:srgbClr val="75819F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>
            <a:extLst>
              <a:ext uri="{FF2B5EF4-FFF2-40B4-BE49-F238E27FC236}">
                <a16:creationId xmlns:a16="http://schemas.microsoft.com/office/drawing/2014/main" id="{8FA89D95-7025-96D6-5F97-90B2CE8BBF89}"/>
              </a:ext>
            </a:extLst>
          </p:cNvPr>
          <p:cNvGrpSpPr/>
          <p:nvPr/>
        </p:nvGrpSpPr>
        <p:grpSpPr>
          <a:xfrm>
            <a:off x="9673242" y="701626"/>
            <a:ext cx="2110771" cy="153888"/>
            <a:chOff x="7455481" y="383651"/>
            <a:chExt cx="2110771" cy="153888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1D8C245-54A9-0BD1-1E69-340220B12BAB}"/>
                </a:ext>
              </a:extLst>
            </p:cNvPr>
            <p:cNvSpPr/>
            <p:nvPr/>
          </p:nvSpPr>
          <p:spPr>
            <a:xfrm>
              <a:off x="7455481" y="383651"/>
              <a:ext cx="1776212" cy="153888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/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u="none" strike="noStrike" kern="1200" cap="none" spc="-7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5F6E97">
                          <a:alpha val="70000"/>
                        </a:srgbClr>
                      </a:gs>
                      <a:gs pos="100000">
                        <a:srgbClr val="5F6E97">
                          <a:alpha val="70000"/>
                        </a:srgb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NanumSquareOTF" panose="020B0600000101010101" pitchFamily="34" charset="-127"/>
                  <a:ea typeface="NanumSquareOTF" panose="020B0600000101010101" pitchFamily="34" charset="-127"/>
                  <a:cs typeface="Arial" panose="020B0604020202020204" pitchFamily="34" charset="0"/>
                </a:rPr>
                <a:t>진행안내</a:t>
              </a:r>
              <a:endParaRPr kumimoji="0" lang="ko-KR" altLang="en-US" sz="1000" u="none" strike="noStrike" kern="1200" cap="none" spc="-70" normalizeH="0" baseline="0" noProof="0" dirty="0">
                <a:ln>
                  <a:noFill/>
                </a:ln>
                <a:gradFill>
                  <a:gsLst>
                    <a:gs pos="0">
                      <a:srgbClr val="5F6E97">
                        <a:alpha val="70000"/>
                      </a:srgbClr>
                    </a:gs>
                    <a:gs pos="100000">
                      <a:srgbClr val="5F6E97">
                        <a:alpha val="70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NanumSquareOTF" panose="020B0600000101010101" pitchFamily="34" charset="-127"/>
                <a:ea typeface="NanumSquareOTF" panose="020B0600000101010101" pitchFamily="34" charset="-127"/>
                <a:cs typeface="Arial" panose="020B0604020202020204" pitchFamily="34" charset="0"/>
              </a:endParaRPr>
            </a:p>
          </p:txBody>
        </p: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518EC0E1-F377-4D22-602C-6763F1CD786D}"/>
                </a:ext>
              </a:extLst>
            </p:cNvPr>
            <p:cNvCxnSpPr>
              <a:cxnSpLocks/>
            </p:cNvCxnSpPr>
            <p:nvPr/>
          </p:nvCxnSpPr>
          <p:spPr>
            <a:xfrm>
              <a:off x="9315037" y="397582"/>
              <a:ext cx="0" cy="126026"/>
            </a:xfrm>
            <a:prstGeom prst="line">
              <a:avLst/>
            </a:prstGeom>
            <a:solidFill>
              <a:schemeClr val="bg1"/>
            </a:solidFill>
            <a:ln w="3175">
              <a:solidFill>
                <a:srgbClr val="CFD3D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410E816-0C48-1147-5B92-5A9D1782086F}"/>
                </a:ext>
              </a:extLst>
            </p:cNvPr>
            <p:cNvSpPr/>
            <p:nvPr/>
          </p:nvSpPr>
          <p:spPr>
            <a:xfrm>
              <a:off x="9372451" y="383651"/>
              <a:ext cx="193801" cy="153888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5F6E97">
                          <a:alpha val="70000"/>
                        </a:srgbClr>
                      </a:gs>
                      <a:gs pos="100000">
                        <a:srgbClr val="5F6E97">
                          <a:alpha val="70000"/>
                        </a:srgb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NanumSquareOTF" panose="020B0600000101010101" pitchFamily="34" charset="-127"/>
                  <a:ea typeface="NanumSquareOTF" panose="020B0600000101010101" pitchFamily="34" charset="-127"/>
                  <a:cs typeface="Arial" panose="020B0604020202020204" pitchFamily="34" charset="0"/>
                </a:rPr>
                <a:t>02</a:t>
              </a:r>
              <a:endParaRPr kumimoji="0" lang="ko-KR" altLang="en-US" sz="100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5F6E97">
                        <a:alpha val="70000"/>
                      </a:srgbClr>
                    </a:gs>
                    <a:gs pos="100000">
                      <a:srgbClr val="5F6E97">
                        <a:alpha val="70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NanumSquareOTF" panose="020B0600000101010101" pitchFamily="34" charset="-127"/>
                <a:ea typeface="NanumSquareOTF" panose="020B0600000101010101" pitchFamily="34" charset="-127"/>
                <a:cs typeface="Arial" panose="020B0604020202020204" pitchFamily="34" charset="0"/>
              </a:endParaRPr>
            </a:p>
          </p:txBody>
        </p:sp>
      </p:grpSp>
      <p:sp>
        <p:nvSpPr>
          <p:cNvPr id="49" name="그래픽 5">
            <a:extLst>
              <a:ext uri="{FF2B5EF4-FFF2-40B4-BE49-F238E27FC236}">
                <a16:creationId xmlns:a16="http://schemas.microsoft.com/office/drawing/2014/main" id="{474F9CA9-CBEA-7FC4-4D69-D7A9676504A6}"/>
              </a:ext>
            </a:extLst>
          </p:cNvPr>
          <p:cNvSpPr/>
          <p:nvPr/>
        </p:nvSpPr>
        <p:spPr>
          <a:xfrm>
            <a:off x="4031381" y="1939995"/>
            <a:ext cx="201182" cy="148590"/>
          </a:xfrm>
          <a:custGeom>
            <a:avLst/>
            <a:gdLst>
              <a:gd name="connsiteX0" fmla="*/ 187393 w 412944"/>
              <a:gd name="connsiteY0" fmla="*/ 93666 h 304993"/>
              <a:gd name="connsiteX1" fmla="*/ 183202 w 412944"/>
              <a:gd name="connsiteY1" fmla="*/ 121574 h 304993"/>
              <a:gd name="connsiteX2" fmla="*/ 24039 w 412944"/>
              <a:gd name="connsiteY2" fmla="*/ 304835 h 304993"/>
              <a:gd name="connsiteX3" fmla="*/ 20705 w 412944"/>
              <a:gd name="connsiteY3" fmla="*/ 298072 h 304993"/>
              <a:gd name="connsiteX4" fmla="*/ 99191 w 412944"/>
              <a:gd name="connsiteY4" fmla="*/ 194155 h 304993"/>
              <a:gd name="connsiteX5" fmla="*/ 93762 w 412944"/>
              <a:gd name="connsiteY5" fmla="*/ 187297 h 304993"/>
              <a:gd name="connsiteX6" fmla="*/ 93667 w 412944"/>
              <a:gd name="connsiteY6" fmla="*/ 187297 h 304993"/>
              <a:gd name="connsiteX7" fmla="*/ 92809 w 412944"/>
              <a:gd name="connsiteY7" fmla="*/ 187297 h 304993"/>
              <a:gd name="connsiteX8" fmla="*/ 91762 w 412944"/>
              <a:gd name="connsiteY8" fmla="*/ 187297 h 304993"/>
              <a:gd name="connsiteX9" fmla="*/ 91762 w 412944"/>
              <a:gd name="connsiteY9" fmla="*/ 187201 h 304993"/>
              <a:gd name="connsiteX10" fmla="*/ 36 w 412944"/>
              <a:gd name="connsiteY10" fmla="*/ 90999 h 304993"/>
              <a:gd name="connsiteX11" fmla="*/ 91000 w 412944"/>
              <a:gd name="connsiteY11" fmla="*/ 35 h 304993"/>
              <a:gd name="connsiteX12" fmla="*/ 187393 w 412944"/>
              <a:gd name="connsiteY12" fmla="*/ 93666 h 304993"/>
              <a:gd name="connsiteX13" fmla="*/ 316647 w 412944"/>
              <a:gd name="connsiteY13" fmla="*/ 35 h 304993"/>
              <a:gd name="connsiteX14" fmla="*/ 225683 w 412944"/>
              <a:gd name="connsiteY14" fmla="*/ 90999 h 304993"/>
              <a:gd name="connsiteX15" fmla="*/ 317409 w 412944"/>
              <a:gd name="connsiteY15" fmla="*/ 187201 h 304993"/>
              <a:gd name="connsiteX16" fmla="*/ 317409 w 412944"/>
              <a:gd name="connsiteY16" fmla="*/ 187297 h 304993"/>
              <a:gd name="connsiteX17" fmla="*/ 318457 w 412944"/>
              <a:gd name="connsiteY17" fmla="*/ 187297 h 304993"/>
              <a:gd name="connsiteX18" fmla="*/ 319314 w 412944"/>
              <a:gd name="connsiteY18" fmla="*/ 187297 h 304993"/>
              <a:gd name="connsiteX19" fmla="*/ 319409 w 412944"/>
              <a:gd name="connsiteY19" fmla="*/ 187297 h 304993"/>
              <a:gd name="connsiteX20" fmla="*/ 324838 w 412944"/>
              <a:gd name="connsiteY20" fmla="*/ 194155 h 304993"/>
              <a:gd name="connsiteX21" fmla="*/ 246352 w 412944"/>
              <a:gd name="connsiteY21" fmla="*/ 298072 h 304993"/>
              <a:gd name="connsiteX22" fmla="*/ 249686 w 412944"/>
              <a:gd name="connsiteY22" fmla="*/ 304835 h 304993"/>
              <a:gd name="connsiteX23" fmla="*/ 408754 w 412944"/>
              <a:gd name="connsiteY23" fmla="*/ 121574 h 304993"/>
              <a:gd name="connsiteX24" fmla="*/ 412945 w 412944"/>
              <a:gd name="connsiteY24" fmla="*/ 93666 h 304993"/>
              <a:gd name="connsiteX25" fmla="*/ 316647 w 412944"/>
              <a:gd name="connsiteY25" fmla="*/ 35 h 304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12944" h="304993">
                <a:moveTo>
                  <a:pt x="187393" y="93666"/>
                </a:moveTo>
                <a:cubicBezTo>
                  <a:pt x="187393" y="103381"/>
                  <a:pt x="185869" y="112716"/>
                  <a:pt x="183202" y="121574"/>
                </a:cubicBezTo>
                <a:cubicBezTo>
                  <a:pt x="157865" y="253972"/>
                  <a:pt x="64044" y="293786"/>
                  <a:pt x="24039" y="304835"/>
                </a:cubicBezTo>
                <a:cubicBezTo>
                  <a:pt x="19943" y="305978"/>
                  <a:pt x="17371" y="300644"/>
                  <a:pt x="20705" y="298072"/>
                </a:cubicBezTo>
                <a:cubicBezTo>
                  <a:pt x="63472" y="264830"/>
                  <a:pt x="86809" y="223777"/>
                  <a:pt x="99191" y="194155"/>
                </a:cubicBezTo>
                <a:cubicBezTo>
                  <a:pt x="100525" y="188725"/>
                  <a:pt x="96429" y="187582"/>
                  <a:pt x="93762" y="187297"/>
                </a:cubicBezTo>
                <a:cubicBezTo>
                  <a:pt x="93762" y="187297"/>
                  <a:pt x="93667" y="187297"/>
                  <a:pt x="93667" y="187297"/>
                </a:cubicBezTo>
                <a:cubicBezTo>
                  <a:pt x="93381" y="187297"/>
                  <a:pt x="93095" y="187297"/>
                  <a:pt x="92809" y="187297"/>
                </a:cubicBezTo>
                <a:cubicBezTo>
                  <a:pt x="92238" y="187297"/>
                  <a:pt x="91762" y="187297"/>
                  <a:pt x="91762" y="187297"/>
                </a:cubicBezTo>
                <a:lnTo>
                  <a:pt x="91762" y="187201"/>
                </a:lnTo>
                <a:cubicBezTo>
                  <a:pt x="40041" y="186249"/>
                  <a:pt x="-1393" y="143291"/>
                  <a:pt x="36" y="90999"/>
                </a:cubicBezTo>
                <a:cubicBezTo>
                  <a:pt x="1465" y="42136"/>
                  <a:pt x="42136" y="1464"/>
                  <a:pt x="91000" y="35"/>
                </a:cubicBezTo>
                <a:cubicBezTo>
                  <a:pt x="143959" y="-1394"/>
                  <a:pt x="187393" y="41088"/>
                  <a:pt x="187393" y="93666"/>
                </a:cubicBezTo>
                <a:close/>
                <a:moveTo>
                  <a:pt x="316647" y="35"/>
                </a:moveTo>
                <a:cubicBezTo>
                  <a:pt x="267784" y="1369"/>
                  <a:pt x="227017" y="42136"/>
                  <a:pt x="225683" y="90999"/>
                </a:cubicBezTo>
                <a:cubicBezTo>
                  <a:pt x="224254" y="143291"/>
                  <a:pt x="265688" y="186154"/>
                  <a:pt x="317409" y="187201"/>
                </a:cubicBezTo>
                <a:lnTo>
                  <a:pt x="317409" y="187297"/>
                </a:lnTo>
                <a:cubicBezTo>
                  <a:pt x="317409" y="187297"/>
                  <a:pt x="317885" y="187297"/>
                  <a:pt x="318457" y="187297"/>
                </a:cubicBezTo>
                <a:cubicBezTo>
                  <a:pt x="318742" y="187297"/>
                  <a:pt x="319028" y="187297"/>
                  <a:pt x="319314" y="187297"/>
                </a:cubicBezTo>
                <a:cubicBezTo>
                  <a:pt x="319314" y="187297"/>
                  <a:pt x="319409" y="187297"/>
                  <a:pt x="319409" y="187297"/>
                </a:cubicBezTo>
                <a:cubicBezTo>
                  <a:pt x="322076" y="187487"/>
                  <a:pt x="326172" y="188630"/>
                  <a:pt x="324838" y="194155"/>
                </a:cubicBezTo>
                <a:cubicBezTo>
                  <a:pt x="312456" y="223777"/>
                  <a:pt x="289120" y="264830"/>
                  <a:pt x="246352" y="298072"/>
                </a:cubicBezTo>
                <a:cubicBezTo>
                  <a:pt x="243019" y="300644"/>
                  <a:pt x="245590" y="305978"/>
                  <a:pt x="249686" y="304835"/>
                </a:cubicBezTo>
                <a:cubicBezTo>
                  <a:pt x="289691" y="293691"/>
                  <a:pt x="383512" y="253876"/>
                  <a:pt x="408754" y="121574"/>
                </a:cubicBezTo>
                <a:cubicBezTo>
                  <a:pt x="411516" y="112716"/>
                  <a:pt x="412945" y="103381"/>
                  <a:pt x="412945" y="93666"/>
                </a:cubicBezTo>
                <a:cubicBezTo>
                  <a:pt x="412945" y="41088"/>
                  <a:pt x="369606" y="-1394"/>
                  <a:pt x="316647" y="35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u="none" strike="noStrike" kern="120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OTF" panose="020B0600000101010101" pitchFamily="34" charset="-127"/>
              <a:ea typeface="NanumSquareOTF" panose="020B0600000101010101" pitchFamily="34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547422C-6E0E-A42D-CF95-DCD66DFC7250}"/>
              </a:ext>
            </a:extLst>
          </p:cNvPr>
          <p:cNvGrpSpPr/>
          <p:nvPr/>
        </p:nvGrpSpPr>
        <p:grpSpPr>
          <a:xfrm>
            <a:off x="1160853" y="1118046"/>
            <a:ext cx="4734341" cy="4204869"/>
            <a:chOff x="7079741" y="1280043"/>
            <a:chExt cx="4734341" cy="4204869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EA29D828-5AB5-02DD-0C65-65B80B196884}"/>
                </a:ext>
              </a:extLst>
            </p:cNvPr>
            <p:cNvSpPr>
              <a:spLocks/>
            </p:cNvSpPr>
            <p:nvPr/>
          </p:nvSpPr>
          <p:spPr>
            <a:xfrm>
              <a:off x="7079741" y="1280043"/>
              <a:ext cx="4704272" cy="4177621"/>
            </a:xfrm>
            <a:prstGeom prst="rect">
              <a:avLst/>
            </a:prstGeom>
            <a:solidFill>
              <a:srgbClr val="005AA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algn="ctr" defTabSz="897392"/>
              <a:endParaRPr lang="ko-KR" altLang="en-US" sz="1000" kern="0" spc="-50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1"/>
                </a:gradFill>
                <a:latin typeface="NanumSquareOTF" panose="020B0600000101010101" pitchFamily="34" charset="-127"/>
                <a:ea typeface="NanumSquareOTF" panose="020B0600000101010101" pitchFamily="34" charset="-127"/>
                <a:cs typeface="Arial" panose="020B0604020202020204" pitchFamily="34" charset="0"/>
              </a:endParaRPr>
            </a:p>
          </p:txBody>
        </p:sp>
        <p:pic>
          <p:nvPicPr>
            <p:cNvPr id="35" name="그림 34" descr="인간의 얼굴, 의류, 스크린샷, 사람이(가) 표시된 사진&#10;&#10;자동 생성된 설명">
              <a:extLst>
                <a:ext uri="{FF2B5EF4-FFF2-40B4-BE49-F238E27FC236}">
                  <a16:creationId xmlns:a16="http://schemas.microsoft.com/office/drawing/2014/main" id="{992B6ED1-0121-15FA-4D29-561A85C798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83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949530" y="1306542"/>
              <a:ext cx="3834483" cy="4178370"/>
            </a:xfrm>
            <a:prstGeom prst="rect">
              <a:avLst/>
            </a:prstGeom>
          </p:spPr>
        </p:pic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3B8F2CB1-883B-5CCD-1799-F410FEDB0CFF}"/>
                </a:ext>
              </a:extLst>
            </p:cNvPr>
            <p:cNvSpPr>
              <a:spLocks/>
            </p:cNvSpPr>
            <p:nvPr/>
          </p:nvSpPr>
          <p:spPr>
            <a:xfrm>
              <a:off x="8112224" y="1818568"/>
              <a:ext cx="3250845" cy="802014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/>
            <a:p>
              <a:pPr>
                <a:lnSpc>
                  <a:spcPct val="114000"/>
                </a:lnSpc>
                <a:buClr>
                  <a:srgbClr val="8892AA"/>
                </a:buClr>
                <a:buSzPct val="90000"/>
                <a:defRPr/>
              </a:pPr>
              <a:r>
                <a:rPr lang="ko-KR" altLang="en-US" sz="4800" b="1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0"/>
                  </a:gra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맑은 고딕 Semilight" panose="020B0502040204020203" pitchFamily="50" charset="-127"/>
                </a:rPr>
                <a:t>차 예 솔 </a:t>
              </a:r>
              <a:r>
                <a:rPr lang="ko-KR" altLang="en-US" sz="2800" b="1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Arial" pitchFamily="34" charset="0"/>
                </a:rPr>
                <a:t>멘토</a:t>
              </a:r>
              <a:endParaRPr lang="en-US" altLang="ko-KR" sz="28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itchFamily="34" charset="0"/>
              </a:endParaRPr>
            </a:p>
          </p:txBody>
        </p: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03947D24-D780-D339-37AD-D05B0B98EA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56404" y="1650456"/>
              <a:ext cx="3662377" cy="0"/>
            </a:xfrm>
            <a:prstGeom prst="line">
              <a:avLst/>
            </a:prstGeom>
            <a:ln w="19050" cap="rnd"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0EE8C228-477C-0C66-02FB-25ACFD3A75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54429" y="1650456"/>
              <a:ext cx="360000" cy="0"/>
            </a:xfrm>
            <a:prstGeom prst="line">
              <a:avLst/>
            </a:prstGeom>
            <a:ln w="190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385F442-9FAF-AF7F-CC05-7434533A9376}"/>
                </a:ext>
              </a:extLst>
            </p:cNvPr>
            <p:cNvSpPr txBox="1"/>
            <p:nvPr/>
          </p:nvSpPr>
          <p:spPr>
            <a:xfrm>
              <a:off x="8112232" y="2874156"/>
              <a:ext cx="3701850" cy="359045"/>
            </a:xfrm>
            <a:prstGeom prst="roundRect">
              <a:avLst>
                <a:gd name="adj" fmla="val 13762"/>
              </a:avLst>
            </a:prstGeom>
            <a:gradFill>
              <a:gsLst>
                <a:gs pos="0">
                  <a:schemeClr val="bg1">
                    <a:alpha val="2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</a:gradFill>
          </p:spPr>
          <p:txBody>
            <a:bodyPr wrap="square" lIns="144000" tIns="0" rIns="0" bIns="0" anchor="ctr" anchorCtr="0">
              <a:noAutofit/>
            </a:bodyPr>
            <a:lstStyle>
              <a:defPPr>
                <a:defRPr lang="en-US"/>
              </a:defPPr>
              <a:lvl1pPr>
                <a:defRPr sz="1600" spc="-5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맑은 고딕 Semilight" panose="020B0502040204020203" pitchFamily="50" charset="-127"/>
                </a:defRPr>
              </a:lvl1pPr>
            </a:lstStyle>
            <a:p>
              <a:r>
                <a:rPr lang="ko-KR" altLang="en-US" sz="14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멘토 약력</a:t>
              </a:r>
            </a:p>
          </p:txBody>
        </p:sp>
        <p:sp>
          <p:nvSpPr>
            <p:cNvPr id="51" name="내용 개체 틀 2">
              <a:extLst>
                <a:ext uri="{FF2B5EF4-FFF2-40B4-BE49-F238E27FC236}">
                  <a16:creationId xmlns:a16="http://schemas.microsoft.com/office/drawing/2014/main" id="{FD962733-A5F4-C429-A134-CF980D61CAC6}"/>
                </a:ext>
              </a:extLst>
            </p:cNvPr>
            <p:cNvSpPr txBox="1">
              <a:spLocks/>
            </p:cNvSpPr>
            <p:nvPr/>
          </p:nvSpPr>
          <p:spPr>
            <a:xfrm>
              <a:off x="8004212" y="3281396"/>
              <a:ext cx="3809730" cy="65133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defPPr>
                <a:defRPr lang="ko-KR"/>
              </a:defPPr>
              <a:lvl1pPr marL="206375" lvl="0" indent="-206375" fontAlgn="base" latinLnBrk="0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8892AA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tabLst>
                  <a:tab pos="381000" algn="l"/>
                  <a:tab pos="827088" algn="l"/>
                </a:tabLst>
                <a:defRPr kumimoji="1" sz="1500" b="1" spc="0">
                  <a:ln w="11430">
                    <a:solidFill>
                      <a:schemeClr val="bg1">
                        <a:alpha val="0"/>
                      </a:schemeClr>
                    </a:solidFill>
                  </a:ln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 Unicode MS" panose="020B0604020202020204" pitchFamily="50" charset="-127"/>
                </a:defRPr>
              </a:lvl1pPr>
              <a:lvl2pPr marL="354013" lvl="1" indent="-138113" latinLnBrk="0">
                <a:lnSpc>
                  <a:spcPct val="110000"/>
                </a:lnSpc>
                <a:spcBef>
                  <a:spcPts val="600"/>
                </a:spcBef>
                <a:buFont typeface="나눔스퀘어" panose="020B0600000101010101" pitchFamily="50" charset="-127"/>
                <a:buChar char="-"/>
                <a:defRPr sz="1350" spc="-50" baseline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2pPr>
              <a:lvl3pPr marL="449263" lvl="2" indent="-125413" latinLnBrk="0">
                <a:lnSpc>
                  <a:spcPct val="110000"/>
                </a:lnSpc>
                <a:spcBef>
                  <a:spcPts val="500"/>
                </a:spcBef>
                <a:buClr>
                  <a:srgbClr val="C3C8D4"/>
                </a:buClr>
                <a:buFont typeface="Arial" panose="020B0604020202020204" pitchFamily="34" charset="0"/>
                <a:buChar char="•"/>
                <a:defRPr sz="1300" spc="-50" baseline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3pPr>
              <a:lvl4pPr marL="571500" lvl="3" indent="-139700" latinLnBrk="0">
                <a:lnSpc>
                  <a:spcPct val="100000"/>
                </a:lnSpc>
                <a:spcBef>
                  <a:spcPts val="500"/>
                </a:spcBef>
                <a:buClr>
                  <a:schemeClr val="tx1">
                    <a:lumMod val="50000"/>
                    <a:lumOff val="50000"/>
                  </a:schemeClr>
                </a:buClr>
                <a:buFont typeface="나눔스퀘어" panose="020B0600000101010101" pitchFamily="50" charset="-127"/>
                <a:buChar char="-"/>
                <a:defRPr sz="1250" spc="-50" baseline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4pPr>
              <a:lvl5pPr marL="216000" lvl="4" indent="0" latinLnBrk="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spc="-50" baseline="0">
                  <a:gradFill>
                    <a:gsLst>
                      <a:gs pos="0">
                        <a:srgbClr val="04306C"/>
                      </a:gs>
                      <a:gs pos="100000">
                        <a:srgbClr val="04306C"/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5pPr>
              <a:lvl6pPr marL="216000" lvl="5" indent="0" latinLnBrk="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spc="-50">
                  <a:gradFill>
                    <a:gsLst>
                      <a:gs pos="0">
                        <a:srgbClr val="04306C"/>
                      </a:gs>
                      <a:gs pos="100000">
                        <a:srgbClr val="04306C"/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6pPr>
              <a:lvl7pPr marL="216000" lvl="6" indent="0" latinLnBrk="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spc="-50">
                  <a:gradFill>
                    <a:gsLst>
                      <a:gs pos="0">
                        <a:srgbClr val="04306C"/>
                      </a:gs>
                      <a:gs pos="100000">
                        <a:srgbClr val="04306C"/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7pPr>
              <a:lvl8pPr marL="216000" lvl="7" indent="0" latinLnBrk="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spc="-50">
                  <a:gradFill>
                    <a:gsLst>
                      <a:gs pos="0">
                        <a:srgbClr val="04306C"/>
                      </a:gs>
                      <a:gs pos="100000">
                        <a:srgbClr val="04306C"/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8pPr>
              <a:lvl9pPr marL="216000" lvl="8" indent="0" latinLnBrk="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spc="-50">
                  <a:gradFill>
                    <a:gsLst>
                      <a:gs pos="0">
                        <a:srgbClr val="04306C"/>
                      </a:gs>
                      <a:gs pos="100000">
                        <a:srgbClr val="04306C"/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9pPr>
            </a:lstStyle>
            <a:p>
              <a:pPr marL="436563" lvl="2" indent="-112713" defTabSz="914400">
                <a:spcBef>
                  <a:spcPts val="0"/>
                </a:spcBef>
                <a:defRPr/>
              </a:pPr>
              <a:r>
                <a:rPr lang="ko-KR" altLang="en-US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현</a:t>
              </a:r>
              <a:r>
                <a:rPr lang="en-US" altLang="ko-KR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)</a:t>
              </a:r>
              <a:r>
                <a:rPr lang="ko-KR" altLang="en-US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 프리랜서 개발자</a:t>
              </a:r>
              <a:endParaRPr lang="en-US" altLang="ko-KR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0" scaled="1"/>
                </a:gradFill>
                <a:latin typeface="NanumSquareOTF" panose="020B0600000101010101" pitchFamily="34" charset="-127"/>
                <a:ea typeface="NanumSquareOTF" panose="020B0600000101010101" pitchFamily="34" charset="-127"/>
              </a:endParaRPr>
            </a:p>
            <a:p>
              <a:pPr marL="436563" lvl="2" indent="-112713" defTabSz="914400">
                <a:spcBef>
                  <a:spcPts val="0"/>
                </a:spcBef>
                <a:defRPr/>
              </a:pPr>
              <a:r>
                <a:rPr lang="ko-KR" altLang="en-US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전</a:t>
              </a:r>
              <a:r>
                <a:rPr lang="en-US" altLang="ko-KR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)</a:t>
              </a:r>
              <a:r>
                <a:rPr lang="ko-KR" altLang="en-US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 </a:t>
              </a:r>
              <a:r>
                <a:rPr lang="en-US" altLang="ko-KR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KB</a:t>
              </a:r>
              <a:r>
                <a:rPr lang="ko-KR" altLang="en-US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 국민은행 </a:t>
              </a:r>
              <a:r>
                <a:rPr lang="en-US" altLang="ko-KR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AI </a:t>
              </a:r>
              <a:r>
                <a:rPr lang="ko-KR" altLang="en-US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활용 서비스 개발</a:t>
              </a:r>
              <a:r>
                <a:rPr lang="en-US" altLang="ko-KR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(~25)</a:t>
              </a:r>
            </a:p>
            <a:p>
              <a:pPr marL="436563" lvl="2" indent="-112713" defTabSz="914400">
                <a:spcBef>
                  <a:spcPts val="0"/>
                </a:spcBef>
                <a:defRPr/>
              </a:pPr>
              <a:r>
                <a:rPr lang="ko-KR" altLang="en-US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전</a:t>
              </a:r>
              <a:r>
                <a:rPr lang="en-US" altLang="ko-KR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)</a:t>
              </a:r>
              <a:r>
                <a:rPr lang="ko-KR" altLang="en-US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 </a:t>
              </a:r>
              <a:r>
                <a:rPr lang="en-US" altLang="ko-KR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LG </a:t>
              </a:r>
              <a:r>
                <a:rPr lang="ko-KR" altLang="en-US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전자 마케팅 데이터 엔지니어링</a:t>
              </a:r>
              <a:endParaRPr lang="en-US" altLang="ko-KR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0" scaled="1"/>
                </a:gradFill>
                <a:latin typeface="NanumSquareOTF" panose="020B0600000101010101" pitchFamily="34" charset="-127"/>
                <a:ea typeface="NanumSquareOTF" panose="020B0600000101010101" pitchFamily="34" charset="-127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A26CA16-61C4-9C3C-EB65-46B10E2B0636}"/>
                </a:ext>
              </a:extLst>
            </p:cNvPr>
            <p:cNvSpPr txBox="1"/>
            <p:nvPr/>
          </p:nvSpPr>
          <p:spPr>
            <a:xfrm>
              <a:off x="8112232" y="4200150"/>
              <a:ext cx="3701850" cy="359045"/>
            </a:xfrm>
            <a:prstGeom prst="roundRect">
              <a:avLst>
                <a:gd name="adj" fmla="val 13762"/>
              </a:avLst>
            </a:prstGeom>
            <a:gradFill>
              <a:gsLst>
                <a:gs pos="0">
                  <a:schemeClr val="bg1">
                    <a:alpha val="2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</a:gradFill>
          </p:spPr>
          <p:txBody>
            <a:bodyPr wrap="square" lIns="144000" tIns="0" rIns="0" bIns="0" anchor="ctr" anchorCtr="0">
              <a:noAutofit/>
            </a:bodyPr>
            <a:lstStyle>
              <a:defPPr>
                <a:defRPr lang="en-US"/>
              </a:defPPr>
              <a:lvl1pPr>
                <a:defRPr sz="1600" spc="-5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맑은 고딕 Semilight" panose="020B0502040204020203" pitchFamily="50" charset="-127"/>
                </a:defRPr>
              </a:lvl1pPr>
            </a:lstStyle>
            <a:p>
              <a:r>
                <a:rPr lang="ko-KR" altLang="en-US" sz="14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수행 프로젝트</a:t>
              </a:r>
            </a:p>
          </p:txBody>
        </p:sp>
        <p:sp>
          <p:nvSpPr>
            <p:cNvPr id="54" name="내용 개체 틀 2">
              <a:extLst>
                <a:ext uri="{FF2B5EF4-FFF2-40B4-BE49-F238E27FC236}">
                  <a16:creationId xmlns:a16="http://schemas.microsoft.com/office/drawing/2014/main" id="{FD962733-A5F4-C429-A134-CF980D61CAC6}"/>
                </a:ext>
              </a:extLst>
            </p:cNvPr>
            <p:cNvSpPr txBox="1">
              <a:spLocks/>
            </p:cNvSpPr>
            <p:nvPr/>
          </p:nvSpPr>
          <p:spPr>
            <a:xfrm>
              <a:off x="8004212" y="4612768"/>
              <a:ext cx="3809730" cy="60125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defPPr>
                <a:defRPr lang="ko-KR"/>
              </a:defPPr>
              <a:lvl1pPr marL="206375" lvl="0" indent="-206375" fontAlgn="base" latinLnBrk="0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8892AA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tabLst>
                  <a:tab pos="381000" algn="l"/>
                  <a:tab pos="827088" algn="l"/>
                </a:tabLst>
                <a:defRPr kumimoji="1" sz="1500" b="1" spc="0">
                  <a:ln w="11430">
                    <a:solidFill>
                      <a:schemeClr val="bg1">
                        <a:alpha val="0"/>
                      </a:schemeClr>
                    </a:solidFill>
                  </a:ln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 Unicode MS" panose="020B0604020202020204" pitchFamily="50" charset="-127"/>
                </a:defRPr>
              </a:lvl1pPr>
              <a:lvl2pPr marL="354013" lvl="1" indent="-138113" latinLnBrk="0">
                <a:lnSpc>
                  <a:spcPct val="110000"/>
                </a:lnSpc>
                <a:spcBef>
                  <a:spcPts val="600"/>
                </a:spcBef>
                <a:buFont typeface="나눔스퀘어" panose="020B0600000101010101" pitchFamily="50" charset="-127"/>
                <a:buChar char="-"/>
                <a:defRPr sz="1350" spc="-50" baseline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2pPr>
              <a:lvl3pPr marL="449263" lvl="2" indent="-125413" latinLnBrk="0">
                <a:lnSpc>
                  <a:spcPct val="110000"/>
                </a:lnSpc>
                <a:spcBef>
                  <a:spcPts val="500"/>
                </a:spcBef>
                <a:buClr>
                  <a:srgbClr val="C3C8D4"/>
                </a:buClr>
                <a:buFont typeface="Arial" panose="020B0604020202020204" pitchFamily="34" charset="0"/>
                <a:buChar char="•"/>
                <a:defRPr sz="1300" spc="-50" baseline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3pPr>
              <a:lvl4pPr marL="571500" lvl="3" indent="-139700" latinLnBrk="0">
                <a:lnSpc>
                  <a:spcPct val="100000"/>
                </a:lnSpc>
                <a:spcBef>
                  <a:spcPts val="500"/>
                </a:spcBef>
                <a:buClr>
                  <a:schemeClr val="tx1">
                    <a:lumMod val="50000"/>
                    <a:lumOff val="50000"/>
                  </a:schemeClr>
                </a:buClr>
                <a:buFont typeface="나눔스퀘어" panose="020B0600000101010101" pitchFamily="50" charset="-127"/>
                <a:buChar char="-"/>
                <a:defRPr sz="1250" spc="-50" baseline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4pPr>
              <a:lvl5pPr marL="216000" lvl="4" indent="0" latinLnBrk="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spc="-50" baseline="0">
                  <a:gradFill>
                    <a:gsLst>
                      <a:gs pos="0">
                        <a:srgbClr val="04306C"/>
                      </a:gs>
                      <a:gs pos="100000">
                        <a:srgbClr val="04306C"/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5pPr>
              <a:lvl6pPr marL="216000" lvl="5" indent="0" latinLnBrk="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spc="-50">
                  <a:gradFill>
                    <a:gsLst>
                      <a:gs pos="0">
                        <a:srgbClr val="04306C"/>
                      </a:gs>
                      <a:gs pos="100000">
                        <a:srgbClr val="04306C"/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6pPr>
              <a:lvl7pPr marL="216000" lvl="6" indent="0" latinLnBrk="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spc="-50">
                  <a:gradFill>
                    <a:gsLst>
                      <a:gs pos="0">
                        <a:srgbClr val="04306C"/>
                      </a:gs>
                      <a:gs pos="100000">
                        <a:srgbClr val="04306C"/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7pPr>
              <a:lvl8pPr marL="216000" lvl="7" indent="0" latinLnBrk="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spc="-50">
                  <a:gradFill>
                    <a:gsLst>
                      <a:gs pos="0">
                        <a:srgbClr val="04306C"/>
                      </a:gs>
                      <a:gs pos="100000">
                        <a:srgbClr val="04306C"/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8pPr>
              <a:lvl9pPr marL="216000" lvl="8" indent="0" latinLnBrk="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spc="-50">
                  <a:gradFill>
                    <a:gsLst>
                      <a:gs pos="0">
                        <a:srgbClr val="04306C"/>
                      </a:gs>
                      <a:gs pos="100000">
                        <a:srgbClr val="04306C"/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9pPr>
            </a:lstStyle>
            <a:p>
              <a:pPr marL="436563" lvl="2" indent="-112713" defTabSz="914400">
                <a:spcBef>
                  <a:spcPts val="0"/>
                </a:spcBef>
                <a:defRPr/>
              </a:pPr>
              <a:r>
                <a:rPr lang="en-US" altLang="ko-KR" sz="12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AI</a:t>
              </a:r>
              <a:r>
                <a:rPr lang="ko-KR" altLang="en-US" sz="12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 </a:t>
              </a:r>
              <a:r>
                <a:rPr lang="ko-KR" altLang="en-US" sz="1200" dirty="0" err="1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외환의심거래</a:t>
              </a:r>
              <a:r>
                <a:rPr lang="ko-KR" altLang="en-US" sz="12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 </a:t>
              </a:r>
              <a:r>
                <a:rPr lang="en-US" altLang="ko-KR" sz="12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OCR</a:t>
              </a:r>
              <a:r>
                <a:rPr lang="ko-KR" altLang="en-US" sz="12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 탐지 서비스 </a:t>
              </a:r>
              <a:r>
                <a:rPr lang="ko-KR" altLang="en-US" sz="1200" dirty="0" err="1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풀스택</a:t>
              </a:r>
              <a:endParaRPr lang="en" altLang="ko-KR" sz="12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0" scaled="1"/>
                </a:gradFill>
                <a:latin typeface="NanumSquareOTF" panose="020B0600000101010101" pitchFamily="34" charset="-127"/>
                <a:ea typeface="NanumSquareOTF" panose="020B0600000101010101" pitchFamily="34" charset="-127"/>
              </a:endParaRPr>
            </a:p>
            <a:p>
              <a:pPr marL="436563" lvl="2" indent="-112713" defTabSz="914400">
                <a:spcBef>
                  <a:spcPts val="0"/>
                </a:spcBef>
                <a:defRPr/>
              </a:pPr>
              <a:r>
                <a:rPr lang="ko-KR" altLang="en-US" sz="12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외환송금 서류점검 </a:t>
              </a:r>
              <a:r>
                <a:rPr lang="en-US" altLang="ko-KR" sz="12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OCR</a:t>
              </a:r>
              <a:r>
                <a:rPr lang="ko-KR" altLang="en-US" sz="12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 서비스 </a:t>
              </a:r>
              <a:r>
                <a:rPr lang="ko-KR" altLang="en-US" sz="1200" dirty="0" err="1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풀스택</a:t>
              </a:r>
              <a:r>
                <a:rPr lang="ko-KR" altLang="en-US" sz="12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 개발</a:t>
              </a:r>
              <a:endParaRPr lang="en" altLang="ko-KR" sz="12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0" scaled="1"/>
                </a:gradFill>
                <a:latin typeface="NanumSquareOTF" panose="020B0600000101010101" pitchFamily="34" charset="-127"/>
                <a:ea typeface="NanumSquareOTF" panose="020B0600000101010101" pitchFamily="34" charset="-127"/>
              </a:endParaRPr>
            </a:p>
            <a:p>
              <a:pPr marL="436563" lvl="2" indent="-112713" defTabSz="914400">
                <a:spcBef>
                  <a:spcPts val="0"/>
                </a:spcBef>
                <a:defRPr/>
              </a:pPr>
              <a:r>
                <a:rPr lang="ko-KR" altLang="en-US" sz="12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반려동물 접종정보 </a:t>
              </a:r>
              <a:r>
                <a:rPr lang="en-US" altLang="ko-KR" sz="12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OCR AI </a:t>
              </a:r>
              <a:r>
                <a:rPr lang="ko-KR" altLang="en-US" sz="12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개발</a:t>
              </a:r>
              <a:endParaRPr lang="en" altLang="ko-KR" sz="12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0" scaled="1"/>
                </a:gradFill>
                <a:latin typeface="NanumSquareOTF" panose="020B0600000101010101" pitchFamily="34" charset="-127"/>
                <a:ea typeface="NanumSquareOTF" panose="020B0600000101010101" pitchFamily="34" charset="-127"/>
              </a:endParaRPr>
            </a:p>
          </p:txBody>
        </p:sp>
      </p:grpSp>
      <p:pic>
        <p:nvPicPr>
          <p:cNvPr id="2" name="그림 1" descr="의류, 만화 영화, 인간의 얼굴, 칼라이(가) 표시된 사진&#10;&#10;자동 생성된 설명">
            <a:extLst>
              <a:ext uri="{FF2B5EF4-FFF2-40B4-BE49-F238E27FC236}">
                <a16:creationId xmlns:a16="http://schemas.microsoft.com/office/drawing/2014/main" id="{44B2C426-E20E-8F17-B42E-C327FE5E23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99" y="979126"/>
            <a:ext cx="2142909" cy="432676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5A0308F-EC84-C5F3-837D-D46A488F9538}"/>
              </a:ext>
            </a:extLst>
          </p:cNvPr>
          <p:cNvSpPr txBox="1"/>
          <p:nvPr/>
        </p:nvSpPr>
        <p:spPr>
          <a:xfrm>
            <a:off x="1998043" y="1112391"/>
            <a:ext cx="3701850" cy="359045"/>
          </a:xfrm>
          <a:prstGeom prst="roundRect">
            <a:avLst>
              <a:gd name="adj" fmla="val 13762"/>
            </a:avLst>
          </a:prstGeom>
          <a:gradFill>
            <a:gsLst>
              <a:gs pos="0">
                <a:schemeClr val="bg1">
                  <a:alpha val="2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</p:spPr>
        <p:txBody>
          <a:bodyPr wrap="square" lIns="144000" tIns="0" rIns="0" bIns="0" anchor="ctr" anchorCtr="0">
            <a:noAutofit/>
          </a:bodyPr>
          <a:lstStyle>
            <a:defPPr>
              <a:defRPr lang="en-US"/>
            </a:defPPr>
            <a:lvl1pPr>
              <a:defRPr sz="1600" spc="-5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0" scaled="1"/>
                </a:gradFill>
                <a:latin typeface="나눔스퀘어 Bold" panose="020B0600000101010101" pitchFamily="50" charset="-127"/>
                <a:ea typeface="나눔스퀘어 Bold" panose="020B0600000101010101" pitchFamily="50" charset="-127"/>
                <a:cs typeface="맑은 고딕 Semilight" panose="020B0502040204020203" pitchFamily="50" charset="-127"/>
              </a:defRPr>
            </a:lvl1pPr>
          </a:lstStyle>
          <a:p>
            <a:r>
              <a:rPr lang="ko-KR" altLang="en-US" sz="14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자유주제 멘토</a:t>
            </a:r>
          </a:p>
        </p:txBody>
      </p:sp>
      <p:sp>
        <p:nvSpPr>
          <p:cNvPr id="52" name="텍스트 개체 틀 2">
            <a:extLst>
              <a:ext uri="{FF2B5EF4-FFF2-40B4-BE49-F238E27FC236}">
                <a16:creationId xmlns:a16="http://schemas.microsoft.com/office/drawing/2014/main" id="{2906B7F8-5BB4-A70A-DE31-4A3226142AF6}"/>
              </a:ext>
            </a:extLst>
          </p:cNvPr>
          <p:cNvSpPr txBox="1">
            <a:spLocks/>
          </p:cNvSpPr>
          <p:nvPr/>
        </p:nvSpPr>
        <p:spPr>
          <a:xfrm>
            <a:off x="6204011" y="1230998"/>
            <a:ext cx="5946290" cy="5149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 b="1" dirty="0"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“</a:t>
            </a:r>
            <a:r>
              <a:rPr lang="ko-KR" altLang="en-US" sz="2400" b="1" dirty="0"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데이터</a:t>
            </a:r>
            <a:r>
              <a:rPr lang="en-US" altLang="ko-KR" sz="2400" b="1" dirty="0"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,ML</a:t>
            </a:r>
            <a:r>
              <a:rPr lang="ko-KR" altLang="en-US" sz="2400" b="1" dirty="0"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을 실무로 구현하는 </a:t>
            </a:r>
            <a:r>
              <a:rPr lang="en-US" altLang="ko-KR" sz="2400" b="1" dirty="0"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SW</a:t>
            </a:r>
            <a:r>
              <a:rPr lang="ko-KR" altLang="en-US" sz="2400" b="1" dirty="0"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엔지니어</a:t>
            </a:r>
            <a:r>
              <a:rPr lang="en-US" altLang="ko-KR" sz="2400" b="1" dirty="0"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”</a:t>
            </a:r>
            <a:r>
              <a:rPr lang="ko-KR" altLang="en-US" sz="2400" b="1" dirty="0"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endParaRPr lang="ko-KR" altLang="en-US" sz="1600" b="1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</a:gradFill>
              <a:latin typeface="Pretendard ExtraBold" panose="02000503000000020004" pitchFamily="2" charset="-127"/>
              <a:ea typeface="Pretendard ExtraBold" panose="02000503000000020004" pitchFamily="2" charset="-127"/>
              <a:cs typeface="Pretendard ExtraBold" panose="02000503000000020004" pitchFamily="2" charset="-127"/>
            </a:endParaRPr>
          </a:p>
        </p:txBody>
      </p:sp>
      <p:sp>
        <p:nvSpPr>
          <p:cNvPr id="55" name="텍스트 개체 틀 2">
            <a:extLst>
              <a:ext uri="{FF2B5EF4-FFF2-40B4-BE49-F238E27FC236}">
                <a16:creationId xmlns:a16="http://schemas.microsoft.com/office/drawing/2014/main" id="{05E85A91-E9FD-A744-459D-2BF5F1FE9591}"/>
              </a:ext>
            </a:extLst>
          </p:cNvPr>
          <p:cNvSpPr txBox="1">
            <a:spLocks/>
          </p:cNvSpPr>
          <p:nvPr/>
        </p:nvSpPr>
        <p:spPr>
          <a:xfrm>
            <a:off x="6318337" y="1831123"/>
            <a:ext cx="5538303" cy="19396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금융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제조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바이오 등 도메인 실무 경험다수</a:t>
            </a:r>
            <a:endParaRPr lang="en-US" altLang="ko-KR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>
              <a:buNone/>
            </a:pP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데이터 엔지니어링 역량 보유</a:t>
            </a:r>
            <a:endParaRPr lang="en-US" altLang="ko-KR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buFontTx/>
              <a:buChar char="-"/>
            </a:pPr>
            <a:r>
              <a:rPr lang="ko-KR" altLang="en-US" sz="1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풀스택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개발경험을 통한 폭넓은 멘토링 커버리지 보유</a:t>
            </a:r>
            <a:endParaRPr lang="en-US" altLang="ko-KR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buFontTx/>
              <a:buChar char="-"/>
            </a:pP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 </a:t>
            </a:r>
            <a:r>
              <a:rPr lang="ko-KR" altLang="en-US" sz="1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회차의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멘토링 진행 경험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새싹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새싹 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67797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D9AC9-C8A4-A1F1-7AB9-60C849AFC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DEF130-5735-3B9C-8FA9-09BA32403572}"/>
              </a:ext>
            </a:extLst>
          </p:cNvPr>
          <p:cNvSpPr txBox="1">
            <a:spLocks/>
          </p:cNvSpPr>
          <p:nvPr/>
        </p:nvSpPr>
        <p:spPr>
          <a:xfrm>
            <a:off x="227348" y="357794"/>
            <a:ext cx="3021375" cy="5149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II. </a:t>
            </a:r>
            <a:r>
              <a:rPr lang="ko-KR" altLang="en-US" b="1" dirty="0" err="1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</a:gra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멘토소개</a:t>
            </a:r>
            <a:r>
              <a:rPr lang="en-US" altLang="ko-KR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</a:gra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-2</a:t>
            </a:r>
            <a:r>
              <a:rPr lang="ko-KR" alt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</a:gra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endParaRPr lang="ko-KR" altLang="en-US" sz="1800" b="1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</a:gradFill>
              <a:latin typeface="Pretendard ExtraBold" panose="02000503000000020004" pitchFamily="2" charset="-127"/>
              <a:ea typeface="Pretendard ExtraBold" panose="02000503000000020004" pitchFamily="2" charset="-127"/>
              <a:cs typeface="Pretendard ExtraBold" panose="02000503000000020004" pitchFamily="2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5C2505A-9D91-AB3B-B93E-FCFE540C5CAE}"/>
              </a:ext>
            </a:extLst>
          </p:cNvPr>
          <p:cNvCxnSpPr>
            <a:cxnSpLocks/>
          </p:cNvCxnSpPr>
          <p:nvPr/>
        </p:nvCxnSpPr>
        <p:spPr>
          <a:xfrm flipH="1">
            <a:off x="410324" y="952626"/>
            <a:ext cx="11341295" cy="0"/>
          </a:xfrm>
          <a:prstGeom prst="line">
            <a:avLst/>
          </a:prstGeom>
          <a:ln w="6350">
            <a:solidFill>
              <a:srgbClr val="75819F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>
            <a:extLst>
              <a:ext uri="{FF2B5EF4-FFF2-40B4-BE49-F238E27FC236}">
                <a16:creationId xmlns:a16="http://schemas.microsoft.com/office/drawing/2014/main" id="{194095F1-1E2C-48E3-49BB-70328BAE85A5}"/>
              </a:ext>
            </a:extLst>
          </p:cNvPr>
          <p:cNvGrpSpPr/>
          <p:nvPr/>
        </p:nvGrpSpPr>
        <p:grpSpPr>
          <a:xfrm>
            <a:off x="9673242" y="701626"/>
            <a:ext cx="2110771" cy="153888"/>
            <a:chOff x="7455481" y="383651"/>
            <a:chExt cx="2110771" cy="153888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4F7B2742-FE2B-4CB5-59EC-9175E8B4D16C}"/>
                </a:ext>
              </a:extLst>
            </p:cNvPr>
            <p:cNvSpPr/>
            <p:nvPr/>
          </p:nvSpPr>
          <p:spPr>
            <a:xfrm>
              <a:off x="7455481" y="383651"/>
              <a:ext cx="1776212" cy="153888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/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u="none" strike="noStrike" kern="1200" cap="none" spc="-7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5F6E97">
                          <a:alpha val="70000"/>
                        </a:srgbClr>
                      </a:gs>
                      <a:gs pos="100000">
                        <a:srgbClr val="5F6E97">
                          <a:alpha val="70000"/>
                        </a:srgb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NanumSquareOTF" panose="020B0600000101010101" pitchFamily="34" charset="-127"/>
                  <a:ea typeface="NanumSquareOTF" panose="020B0600000101010101" pitchFamily="34" charset="-127"/>
                  <a:cs typeface="Arial" panose="020B0604020202020204" pitchFamily="34" charset="0"/>
                </a:rPr>
                <a:t>진행안내</a:t>
              </a:r>
              <a:endParaRPr kumimoji="0" lang="ko-KR" altLang="en-US" sz="1000" u="none" strike="noStrike" kern="1200" cap="none" spc="-70" normalizeH="0" baseline="0" noProof="0" dirty="0">
                <a:ln>
                  <a:noFill/>
                </a:ln>
                <a:gradFill>
                  <a:gsLst>
                    <a:gs pos="0">
                      <a:srgbClr val="5F6E97">
                        <a:alpha val="70000"/>
                      </a:srgbClr>
                    </a:gs>
                    <a:gs pos="100000">
                      <a:srgbClr val="5F6E97">
                        <a:alpha val="70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NanumSquareOTF" panose="020B0600000101010101" pitchFamily="34" charset="-127"/>
                <a:ea typeface="NanumSquareOTF" panose="020B0600000101010101" pitchFamily="34" charset="-127"/>
                <a:cs typeface="Arial" panose="020B0604020202020204" pitchFamily="34" charset="0"/>
              </a:endParaRPr>
            </a:p>
          </p:txBody>
        </p: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CBF75EF1-74C1-6D24-D4B1-77B92C5BEBE0}"/>
                </a:ext>
              </a:extLst>
            </p:cNvPr>
            <p:cNvCxnSpPr>
              <a:cxnSpLocks/>
            </p:cNvCxnSpPr>
            <p:nvPr/>
          </p:nvCxnSpPr>
          <p:spPr>
            <a:xfrm>
              <a:off x="9315037" y="397582"/>
              <a:ext cx="0" cy="126026"/>
            </a:xfrm>
            <a:prstGeom prst="line">
              <a:avLst/>
            </a:prstGeom>
            <a:solidFill>
              <a:schemeClr val="bg1"/>
            </a:solidFill>
            <a:ln w="3175">
              <a:solidFill>
                <a:srgbClr val="CFD3D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45B54FE-E63F-36B3-B16F-D05C2A29A404}"/>
                </a:ext>
              </a:extLst>
            </p:cNvPr>
            <p:cNvSpPr/>
            <p:nvPr/>
          </p:nvSpPr>
          <p:spPr>
            <a:xfrm>
              <a:off x="9372451" y="383651"/>
              <a:ext cx="193801" cy="153888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5F6E97">
                          <a:alpha val="70000"/>
                        </a:srgbClr>
                      </a:gs>
                      <a:gs pos="100000">
                        <a:srgbClr val="5F6E97">
                          <a:alpha val="70000"/>
                        </a:srgb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NanumSquareOTF" panose="020B0600000101010101" pitchFamily="34" charset="-127"/>
                  <a:ea typeface="NanumSquareOTF" panose="020B0600000101010101" pitchFamily="34" charset="-127"/>
                  <a:cs typeface="Arial" panose="020B0604020202020204" pitchFamily="34" charset="0"/>
                </a:rPr>
                <a:t>02</a:t>
              </a:r>
              <a:endParaRPr kumimoji="0" lang="ko-KR" altLang="en-US" sz="100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5F6E97">
                        <a:alpha val="70000"/>
                      </a:srgbClr>
                    </a:gs>
                    <a:gs pos="100000">
                      <a:srgbClr val="5F6E97">
                        <a:alpha val="70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NanumSquareOTF" panose="020B0600000101010101" pitchFamily="34" charset="-127"/>
                <a:ea typeface="NanumSquareOTF" panose="020B0600000101010101" pitchFamily="34" charset="-127"/>
                <a:cs typeface="Arial" panose="020B0604020202020204" pitchFamily="34" charset="0"/>
              </a:endParaRPr>
            </a:p>
          </p:txBody>
        </p:sp>
      </p:grpSp>
      <p:sp>
        <p:nvSpPr>
          <p:cNvPr id="49" name="그래픽 5">
            <a:extLst>
              <a:ext uri="{FF2B5EF4-FFF2-40B4-BE49-F238E27FC236}">
                <a16:creationId xmlns:a16="http://schemas.microsoft.com/office/drawing/2014/main" id="{D2CB3137-951F-54D8-8F19-D3FC42F5A8B8}"/>
              </a:ext>
            </a:extLst>
          </p:cNvPr>
          <p:cNvSpPr/>
          <p:nvPr/>
        </p:nvSpPr>
        <p:spPr>
          <a:xfrm>
            <a:off x="4031381" y="1939995"/>
            <a:ext cx="201182" cy="148590"/>
          </a:xfrm>
          <a:custGeom>
            <a:avLst/>
            <a:gdLst>
              <a:gd name="connsiteX0" fmla="*/ 187393 w 412944"/>
              <a:gd name="connsiteY0" fmla="*/ 93666 h 304993"/>
              <a:gd name="connsiteX1" fmla="*/ 183202 w 412944"/>
              <a:gd name="connsiteY1" fmla="*/ 121574 h 304993"/>
              <a:gd name="connsiteX2" fmla="*/ 24039 w 412944"/>
              <a:gd name="connsiteY2" fmla="*/ 304835 h 304993"/>
              <a:gd name="connsiteX3" fmla="*/ 20705 w 412944"/>
              <a:gd name="connsiteY3" fmla="*/ 298072 h 304993"/>
              <a:gd name="connsiteX4" fmla="*/ 99191 w 412944"/>
              <a:gd name="connsiteY4" fmla="*/ 194155 h 304993"/>
              <a:gd name="connsiteX5" fmla="*/ 93762 w 412944"/>
              <a:gd name="connsiteY5" fmla="*/ 187297 h 304993"/>
              <a:gd name="connsiteX6" fmla="*/ 93667 w 412944"/>
              <a:gd name="connsiteY6" fmla="*/ 187297 h 304993"/>
              <a:gd name="connsiteX7" fmla="*/ 92809 w 412944"/>
              <a:gd name="connsiteY7" fmla="*/ 187297 h 304993"/>
              <a:gd name="connsiteX8" fmla="*/ 91762 w 412944"/>
              <a:gd name="connsiteY8" fmla="*/ 187297 h 304993"/>
              <a:gd name="connsiteX9" fmla="*/ 91762 w 412944"/>
              <a:gd name="connsiteY9" fmla="*/ 187201 h 304993"/>
              <a:gd name="connsiteX10" fmla="*/ 36 w 412944"/>
              <a:gd name="connsiteY10" fmla="*/ 90999 h 304993"/>
              <a:gd name="connsiteX11" fmla="*/ 91000 w 412944"/>
              <a:gd name="connsiteY11" fmla="*/ 35 h 304993"/>
              <a:gd name="connsiteX12" fmla="*/ 187393 w 412944"/>
              <a:gd name="connsiteY12" fmla="*/ 93666 h 304993"/>
              <a:gd name="connsiteX13" fmla="*/ 316647 w 412944"/>
              <a:gd name="connsiteY13" fmla="*/ 35 h 304993"/>
              <a:gd name="connsiteX14" fmla="*/ 225683 w 412944"/>
              <a:gd name="connsiteY14" fmla="*/ 90999 h 304993"/>
              <a:gd name="connsiteX15" fmla="*/ 317409 w 412944"/>
              <a:gd name="connsiteY15" fmla="*/ 187201 h 304993"/>
              <a:gd name="connsiteX16" fmla="*/ 317409 w 412944"/>
              <a:gd name="connsiteY16" fmla="*/ 187297 h 304993"/>
              <a:gd name="connsiteX17" fmla="*/ 318457 w 412944"/>
              <a:gd name="connsiteY17" fmla="*/ 187297 h 304993"/>
              <a:gd name="connsiteX18" fmla="*/ 319314 w 412944"/>
              <a:gd name="connsiteY18" fmla="*/ 187297 h 304993"/>
              <a:gd name="connsiteX19" fmla="*/ 319409 w 412944"/>
              <a:gd name="connsiteY19" fmla="*/ 187297 h 304993"/>
              <a:gd name="connsiteX20" fmla="*/ 324838 w 412944"/>
              <a:gd name="connsiteY20" fmla="*/ 194155 h 304993"/>
              <a:gd name="connsiteX21" fmla="*/ 246352 w 412944"/>
              <a:gd name="connsiteY21" fmla="*/ 298072 h 304993"/>
              <a:gd name="connsiteX22" fmla="*/ 249686 w 412944"/>
              <a:gd name="connsiteY22" fmla="*/ 304835 h 304993"/>
              <a:gd name="connsiteX23" fmla="*/ 408754 w 412944"/>
              <a:gd name="connsiteY23" fmla="*/ 121574 h 304993"/>
              <a:gd name="connsiteX24" fmla="*/ 412945 w 412944"/>
              <a:gd name="connsiteY24" fmla="*/ 93666 h 304993"/>
              <a:gd name="connsiteX25" fmla="*/ 316647 w 412944"/>
              <a:gd name="connsiteY25" fmla="*/ 35 h 304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12944" h="304993">
                <a:moveTo>
                  <a:pt x="187393" y="93666"/>
                </a:moveTo>
                <a:cubicBezTo>
                  <a:pt x="187393" y="103381"/>
                  <a:pt x="185869" y="112716"/>
                  <a:pt x="183202" y="121574"/>
                </a:cubicBezTo>
                <a:cubicBezTo>
                  <a:pt x="157865" y="253972"/>
                  <a:pt x="64044" y="293786"/>
                  <a:pt x="24039" y="304835"/>
                </a:cubicBezTo>
                <a:cubicBezTo>
                  <a:pt x="19943" y="305978"/>
                  <a:pt x="17371" y="300644"/>
                  <a:pt x="20705" y="298072"/>
                </a:cubicBezTo>
                <a:cubicBezTo>
                  <a:pt x="63472" y="264830"/>
                  <a:pt x="86809" y="223777"/>
                  <a:pt x="99191" y="194155"/>
                </a:cubicBezTo>
                <a:cubicBezTo>
                  <a:pt x="100525" y="188725"/>
                  <a:pt x="96429" y="187582"/>
                  <a:pt x="93762" y="187297"/>
                </a:cubicBezTo>
                <a:cubicBezTo>
                  <a:pt x="93762" y="187297"/>
                  <a:pt x="93667" y="187297"/>
                  <a:pt x="93667" y="187297"/>
                </a:cubicBezTo>
                <a:cubicBezTo>
                  <a:pt x="93381" y="187297"/>
                  <a:pt x="93095" y="187297"/>
                  <a:pt x="92809" y="187297"/>
                </a:cubicBezTo>
                <a:cubicBezTo>
                  <a:pt x="92238" y="187297"/>
                  <a:pt x="91762" y="187297"/>
                  <a:pt x="91762" y="187297"/>
                </a:cubicBezTo>
                <a:lnTo>
                  <a:pt x="91762" y="187201"/>
                </a:lnTo>
                <a:cubicBezTo>
                  <a:pt x="40041" y="186249"/>
                  <a:pt x="-1393" y="143291"/>
                  <a:pt x="36" y="90999"/>
                </a:cubicBezTo>
                <a:cubicBezTo>
                  <a:pt x="1465" y="42136"/>
                  <a:pt x="42136" y="1464"/>
                  <a:pt x="91000" y="35"/>
                </a:cubicBezTo>
                <a:cubicBezTo>
                  <a:pt x="143959" y="-1394"/>
                  <a:pt x="187393" y="41088"/>
                  <a:pt x="187393" y="93666"/>
                </a:cubicBezTo>
                <a:close/>
                <a:moveTo>
                  <a:pt x="316647" y="35"/>
                </a:moveTo>
                <a:cubicBezTo>
                  <a:pt x="267784" y="1369"/>
                  <a:pt x="227017" y="42136"/>
                  <a:pt x="225683" y="90999"/>
                </a:cubicBezTo>
                <a:cubicBezTo>
                  <a:pt x="224254" y="143291"/>
                  <a:pt x="265688" y="186154"/>
                  <a:pt x="317409" y="187201"/>
                </a:cubicBezTo>
                <a:lnTo>
                  <a:pt x="317409" y="187297"/>
                </a:lnTo>
                <a:cubicBezTo>
                  <a:pt x="317409" y="187297"/>
                  <a:pt x="317885" y="187297"/>
                  <a:pt x="318457" y="187297"/>
                </a:cubicBezTo>
                <a:cubicBezTo>
                  <a:pt x="318742" y="187297"/>
                  <a:pt x="319028" y="187297"/>
                  <a:pt x="319314" y="187297"/>
                </a:cubicBezTo>
                <a:cubicBezTo>
                  <a:pt x="319314" y="187297"/>
                  <a:pt x="319409" y="187297"/>
                  <a:pt x="319409" y="187297"/>
                </a:cubicBezTo>
                <a:cubicBezTo>
                  <a:pt x="322076" y="187487"/>
                  <a:pt x="326172" y="188630"/>
                  <a:pt x="324838" y="194155"/>
                </a:cubicBezTo>
                <a:cubicBezTo>
                  <a:pt x="312456" y="223777"/>
                  <a:pt x="289120" y="264830"/>
                  <a:pt x="246352" y="298072"/>
                </a:cubicBezTo>
                <a:cubicBezTo>
                  <a:pt x="243019" y="300644"/>
                  <a:pt x="245590" y="305978"/>
                  <a:pt x="249686" y="304835"/>
                </a:cubicBezTo>
                <a:cubicBezTo>
                  <a:pt x="289691" y="293691"/>
                  <a:pt x="383512" y="253876"/>
                  <a:pt x="408754" y="121574"/>
                </a:cubicBezTo>
                <a:cubicBezTo>
                  <a:pt x="411516" y="112716"/>
                  <a:pt x="412945" y="103381"/>
                  <a:pt x="412945" y="93666"/>
                </a:cubicBezTo>
                <a:cubicBezTo>
                  <a:pt x="412945" y="41088"/>
                  <a:pt x="369606" y="-1394"/>
                  <a:pt x="316647" y="35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u="none" strike="noStrike" kern="120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OTF" panose="020B0600000101010101" pitchFamily="34" charset="-127"/>
              <a:ea typeface="NanumSquareOTF" panose="020B0600000101010101" pitchFamily="34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F82805C9-F815-B0E0-F644-49027BB25DED}"/>
              </a:ext>
            </a:extLst>
          </p:cNvPr>
          <p:cNvGrpSpPr/>
          <p:nvPr/>
        </p:nvGrpSpPr>
        <p:grpSpPr>
          <a:xfrm>
            <a:off x="5978860" y="964798"/>
            <a:ext cx="6165812" cy="4719533"/>
            <a:chOff x="-105816" y="1171602"/>
            <a:chExt cx="6165812" cy="4719533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0997AFF-22B7-089B-98E7-76DF65E1A42F}"/>
                </a:ext>
              </a:extLst>
            </p:cNvPr>
            <p:cNvSpPr>
              <a:spLocks/>
            </p:cNvSpPr>
            <p:nvPr/>
          </p:nvSpPr>
          <p:spPr>
            <a:xfrm>
              <a:off x="1087481" y="1326901"/>
              <a:ext cx="4612015" cy="4177645"/>
            </a:xfrm>
            <a:prstGeom prst="rect">
              <a:avLst/>
            </a:prstGeom>
            <a:solidFill>
              <a:srgbClr val="5A658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algn="ctr" defTabSz="897392"/>
              <a:endParaRPr lang="ko-KR" altLang="en-US" sz="1000" kern="0" spc="-50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1"/>
                </a:gradFill>
                <a:latin typeface="NanumSquareOTF" panose="020B0600000101010101" pitchFamily="34" charset="-127"/>
                <a:ea typeface="NanumSquareOTF" panose="020B0600000101010101" pitchFamily="34" charset="-127"/>
                <a:cs typeface="Arial" panose="020B0604020202020204" pitchFamily="34" charset="0"/>
              </a:endParaRPr>
            </a:p>
          </p:txBody>
        </p:sp>
        <p:pic>
          <p:nvPicPr>
            <p:cNvPr id="28" name="그림 27" descr="인간의 얼굴, 의류, 스크린샷, 사람이(가) 표시된 사진&#10;&#10;자동 생성된 설명">
              <a:extLst>
                <a:ext uri="{FF2B5EF4-FFF2-40B4-BE49-F238E27FC236}">
                  <a16:creationId xmlns:a16="http://schemas.microsoft.com/office/drawing/2014/main" id="{2C736077-9E09-D55F-6190-D20051C4CC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83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865013" y="1326152"/>
              <a:ext cx="3834483" cy="4178394"/>
            </a:xfrm>
            <a:prstGeom prst="rect">
              <a:avLst/>
            </a:prstGeom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58B23A0E-40C2-6B6B-142A-197F9754BE2C}"/>
                </a:ext>
              </a:extLst>
            </p:cNvPr>
            <p:cNvSpPr>
              <a:spLocks/>
            </p:cNvSpPr>
            <p:nvPr/>
          </p:nvSpPr>
          <p:spPr>
            <a:xfrm>
              <a:off x="2238188" y="1865426"/>
              <a:ext cx="3137732" cy="802014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/>
            <a:p>
              <a:pPr>
                <a:lnSpc>
                  <a:spcPct val="114000"/>
                </a:lnSpc>
                <a:buClr>
                  <a:srgbClr val="8892AA"/>
                </a:buClr>
                <a:buSzPct val="90000"/>
                <a:defRPr/>
              </a:pPr>
              <a:r>
                <a:rPr lang="ko-KR" altLang="en-US" sz="4800" b="1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0"/>
                  </a:gra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맑은 고딕 Semilight" panose="020B0502040204020203" pitchFamily="50" charset="-127"/>
                </a:rPr>
                <a:t>이상호</a:t>
              </a:r>
              <a:r>
                <a:rPr lang="en-US" altLang="ko-KR" sz="4800" b="1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0"/>
                  </a:gra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맑은 고딕 Semilight" panose="020B0502040204020203" pitchFamily="50" charset="-127"/>
                </a:rPr>
                <a:t> </a:t>
              </a:r>
              <a:r>
                <a:rPr lang="ko-KR" altLang="en-US" sz="2800" b="1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Arial" pitchFamily="34" charset="0"/>
                </a:rPr>
                <a:t>멘토</a:t>
              </a:r>
              <a:endParaRPr lang="en-US" altLang="ko-KR" sz="28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itchFamily="34" charset="0"/>
              </a:endParaRPr>
            </a:p>
          </p:txBody>
        </p:sp>
        <p:cxnSp>
          <p:nvCxnSpPr>
            <p:cNvPr id="30" name="직선 연결선 125">
              <a:extLst>
                <a:ext uri="{FF2B5EF4-FFF2-40B4-BE49-F238E27FC236}">
                  <a16:creationId xmlns:a16="http://schemas.microsoft.com/office/drawing/2014/main" id="{B9092251-05CD-FC6F-8BEF-FB4DD7349E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62662" y="1724562"/>
              <a:ext cx="3662377" cy="0"/>
            </a:xfrm>
            <a:prstGeom prst="line">
              <a:avLst/>
            </a:prstGeom>
            <a:ln w="19050" cap="rnd"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126">
              <a:extLst>
                <a:ext uri="{FF2B5EF4-FFF2-40B4-BE49-F238E27FC236}">
                  <a16:creationId xmlns:a16="http://schemas.microsoft.com/office/drawing/2014/main" id="{839A24D6-19C3-4E64-54CF-0A0EE621B8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60687" y="1697314"/>
              <a:ext cx="360000" cy="0"/>
            </a:xfrm>
            <a:prstGeom prst="line">
              <a:avLst/>
            </a:prstGeom>
            <a:ln w="190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" name="그림 31" descr="의류, 만화 영화, 인간의 얼굴, 칼라이(가) 표시된 사진&#10;&#10;자동 생성된 설명">
              <a:extLst>
                <a:ext uri="{FF2B5EF4-FFF2-40B4-BE49-F238E27FC236}">
                  <a16:creationId xmlns:a16="http://schemas.microsoft.com/office/drawing/2014/main" id="{0DF83E44-6848-EB49-845E-CFCF720228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05816" y="1171602"/>
              <a:ext cx="2142909" cy="4326766"/>
            </a:xfrm>
            <a:prstGeom prst="rect">
              <a:avLst/>
            </a:prstGeom>
          </p:spPr>
        </p:pic>
        <p:sp>
          <p:nvSpPr>
            <p:cNvPr id="33" name="내용 개체 틀 2">
              <a:extLst>
                <a:ext uri="{FF2B5EF4-FFF2-40B4-BE49-F238E27FC236}">
                  <a16:creationId xmlns:a16="http://schemas.microsoft.com/office/drawing/2014/main" id="{2971070C-CAC8-AE82-24C8-2E6070F96CC3}"/>
                </a:ext>
              </a:extLst>
            </p:cNvPr>
            <p:cNvSpPr txBox="1">
              <a:spLocks/>
            </p:cNvSpPr>
            <p:nvPr/>
          </p:nvSpPr>
          <p:spPr>
            <a:xfrm>
              <a:off x="2162308" y="4659626"/>
              <a:ext cx="3469051" cy="804387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defPPr>
                <a:defRPr lang="ko-KR"/>
              </a:defPPr>
              <a:lvl1pPr marL="206375" lvl="0" indent="-206375" fontAlgn="base" latinLnBrk="0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8892AA"/>
                </a:buClr>
                <a:buSzPct val="110000"/>
                <a:buFont typeface="Wingdings" panose="05000000000000000000" pitchFamily="2" charset="2"/>
                <a:buBlip>
                  <a:blip r:embed="rId4"/>
                </a:buBlip>
                <a:tabLst>
                  <a:tab pos="381000" algn="l"/>
                  <a:tab pos="827088" algn="l"/>
                </a:tabLst>
                <a:defRPr kumimoji="1" sz="1500" b="1" spc="0">
                  <a:ln w="11430">
                    <a:solidFill>
                      <a:schemeClr val="bg1">
                        <a:alpha val="0"/>
                      </a:schemeClr>
                    </a:solidFill>
                  </a:ln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 Unicode MS" panose="020B0604020202020204" pitchFamily="50" charset="-127"/>
                </a:defRPr>
              </a:lvl1pPr>
              <a:lvl2pPr marL="354013" lvl="1" indent="-138113" latinLnBrk="0">
                <a:lnSpc>
                  <a:spcPct val="110000"/>
                </a:lnSpc>
                <a:spcBef>
                  <a:spcPts val="600"/>
                </a:spcBef>
                <a:buFont typeface="나눔스퀘어" panose="020B0600000101010101" pitchFamily="50" charset="-127"/>
                <a:buChar char="-"/>
                <a:defRPr sz="1350" spc="-50" baseline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2pPr>
              <a:lvl3pPr marL="449263" lvl="2" indent="-125413" latinLnBrk="0">
                <a:lnSpc>
                  <a:spcPct val="110000"/>
                </a:lnSpc>
                <a:spcBef>
                  <a:spcPts val="500"/>
                </a:spcBef>
                <a:buClr>
                  <a:srgbClr val="C3C8D4"/>
                </a:buClr>
                <a:buFont typeface="Arial" panose="020B0604020202020204" pitchFamily="34" charset="0"/>
                <a:buChar char="•"/>
                <a:defRPr sz="1300" spc="-50" baseline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3pPr>
              <a:lvl4pPr marL="571500" lvl="3" indent="-139700" latinLnBrk="0">
                <a:lnSpc>
                  <a:spcPct val="100000"/>
                </a:lnSpc>
                <a:spcBef>
                  <a:spcPts val="500"/>
                </a:spcBef>
                <a:buClr>
                  <a:schemeClr val="tx1">
                    <a:lumMod val="50000"/>
                    <a:lumOff val="50000"/>
                  </a:schemeClr>
                </a:buClr>
                <a:buFont typeface="나눔스퀘어" panose="020B0600000101010101" pitchFamily="50" charset="-127"/>
                <a:buChar char="-"/>
                <a:defRPr sz="1250" spc="-50" baseline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4pPr>
              <a:lvl5pPr marL="216000" lvl="4" indent="0" latinLnBrk="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spc="-50" baseline="0">
                  <a:gradFill>
                    <a:gsLst>
                      <a:gs pos="0">
                        <a:srgbClr val="04306C"/>
                      </a:gs>
                      <a:gs pos="100000">
                        <a:srgbClr val="04306C"/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5pPr>
              <a:lvl6pPr marL="216000" lvl="5" indent="0" latinLnBrk="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spc="-50">
                  <a:gradFill>
                    <a:gsLst>
                      <a:gs pos="0">
                        <a:srgbClr val="04306C"/>
                      </a:gs>
                      <a:gs pos="100000">
                        <a:srgbClr val="04306C"/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6pPr>
              <a:lvl7pPr marL="216000" lvl="6" indent="0" latinLnBrk="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spc="-50">
                  <a:gradFill>
                    <a:gsLst>
                      <a:gs pos="0">
                        <a:srgbClr val="04306C"/>
                      </a:gs>
                      <a:gs pos="100000">
                        <a:srgbClr val="04306C"/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7pPr>
              <a:lvl8pPr marL="216000" lvl="7" indent="0" latinLnBrk="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spc="-50">
                  <a:gradFill>
                    <a:gsLst>
                      <a:gs pos="0">
                        <a:srgbClr val="04306C"/>
                      </a:gs>
                      <a:gs pos="100000">
                        <a:srgbClr val="04306C"/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8pPr>
              <a:lvl9pPr marL="216000" lvl="8" indent="0" latinLnBrk="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spc="-50">
                  <a:gradFill>
                    <a:gsLst>
                      <a:gs pos="0">
                        <a:srgbClr val="04306C"/>
                      </a:gs>
                      <a:gs pos="100000">
                        <a:srgbClr val="04306C"/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9pPr>
            </a:lstStyle>
            <a:p>
              <a:pPr marL="436563" marR="0" lvl="2" indent="-112713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3C8D4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ko-KR" altLang="en-US" sz="12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반도체 수요 및 </a:t>
              </a:r>
              <a:r>
                <a:rPr lang="ko-KR" altLang="en-US" sz="1200" dirty="0" err="1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빅스비</a:t>
              </a:r>
              <a:r>
                <a:rPr lang="ko-KR" altLang="en-US" sz="12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 사용성 예측</a:t>
              </a:r>
              <a:endParaRPr lang="en-US" altLang="ko-KR" sz="12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0" scaled="1"/>
                </a:gradFill>
                <a:latin typeface="NanumSquareOTF" panose="020B0600000101010101" pitchFamily="34" charset="-127"/>
                <a:ea typeface="NanumSquareOTF" panose="020B0600000101010101" pitchFamily="34" charset="-127"/>
              </a:endParaRPr>
            </a:p>
            <a:p>
              <a:pPr marL="436563" marR="0" lvl="2" indent="-112713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3C8D4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ko-KR" altLang="en-US" sz="12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시장 데이터 분석 및 고객 반응 예측</a:t>
              </a:r>
              <a:endParaRPr lang="en-US" altLang="ko-KR" sz="12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0" scaled="1"/>
                </a:gradFill>
                <a:latin typeface="NanumSquareOTF" panose="020B0600000101010101" pitchFamily="34" charset="-127"/>
                <a:ea typeface="NanumSquareOTF" panose="020B0600000101010101" pitchFamily="34" charset="-127"/>
              </a:endParaRPr>
            </a:p>
            <a:p>
              <a:pPr marL="436563" marR="0" lvl="2" indent="-112713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3C8D4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ko-KR" altLang="en-US" sz="12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보험 관련 </a:t>
              </a:r>
              <a:r>
                <a:rPr lang="ko-KR" altLang="en-US" sz="1200" dirty="0" err="1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머신러닝</a:t>
              </a:r>
              <a:r>
                <a:rPr lang="ko-KR" altLang="en-US" sz="12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 모델 개발</a:t>
              </a:r>
              <a:endParaRPr lang="en-US" altLang="ko-KR" sz="12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0" scaled="1"/>
                </a:gradFill>
                <a:latin typeface="NanumSquareOTF" panose="020B0600000101010101" pitchFamily="34" charset="-127"/>
                <a:ea typeface="NanumSquareOTF" panose="020B0600000101010101" pitchFamily="34" charset="-127"/>
              </a:endParaRPr>
            </a:p>
            <a:p>
              <a:pPr marL="436563" marR="0" lvl="2" indent="-112713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3C8D4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ko-KR" altLang="en-US" sz="12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딥러닝 모델을 활용한 이미지 인식</a:t>
              </a:r>
              <a:endParaRPr lang="en-US" altLang="ko-KR" sz="12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0" scaled="1"/>
                </a:gradFill>
                <a:latin typeface="NanumSquareOTF" panose="020B0600000101010101" pitchFamily="34" charset="-127"/>
                <a:ea typeface="NanumSquareOTF" panose="020B0600000101010101" pitchFamily="34" charset="-127"/>
              </a:endParaRPr>
            </a:p>
          </p:txBody>
        </p:sp>
        <p:sp>
          <p:nvSpPr>
            <p:cNvPr id="43" name="그래픽 5">
              <a:extLst>
                <a:ext uri="{FF2B5EF4-FFF2-40B4-BE49-F238E27FC236}">
                  <a16:creationId xmlns:a16="http://schemas.microsoft.com/office/drawing/2014/main" id="{FED41391-20AF-C964-4F96-F56B16E2F1B0}"/>
                </a:ext>
              </a:extLst>
            </p:cNvPr>
            <p:cNvSpPr/>
            <p:nvPr/>
          </p:nvSpPr>
          <p:spPr>
            <a:xfrm rot="10800000">
              <a:off x="1111639" y="5742545"/>
              <a:ext cx="201182" cy="148590"/>
            </a:xfrm>
            <a:custGeom>
              <a:avLst/>
              <a:gdLst>
                <a:gd name="connsiteX0" fmla="*/ 187393 w 412944"/>
                <a:gd name="connsiteY0" fmla="*/ 93666 h 304993"/>
                <a:gd name="connsiteX1" fmla="*/ 183202 w 412944"/>
                <a:gd name="connsiteY1" fmla="*/ 121574 h 304993"/>
                <a:gd name="connsiteX2" fmla="*/ 24039 w 412944"/>
                <a:gd name="connsiteY2" fmla="*/ 304835 h 304993"/>
                <a:gd name="connsiteX3" fmla="*/ 20705 w 412944"/>
                <a:gd name="connsiteY3" fmla="*/ 298072 h 304993"/>
                <a:gd name="connsiteX4" fmla="*/ 99191 w 412944"/>
                <a:gd name="connsiteY4" fmla="*/ 194155 h 304993"/>
                <a:gd name="connsiteX5" fmla="*/ 93762 w 412944"/>
                <a:gd name="connsiteY5" fmla="*/ 187297 h 304993"/>
                <a:gd name="connsiteX6" fmla="*/ 93667 w 412944"/>
                <a:gd name="connsiteY6" fmla="*/ 187297 h 304993"/>
                <a:gd name="connsiteX7" fmla="*/ 92809 w 412944"/>
                <a:gd name="connsiteY7" fmla="*/ 187297 h 304993"/>
                <a:gd name="connsiteX8" fmla="*/ 91762 w 412944"/>
                <a:gd name="connsiteY8" fmla="*/ 187297 h 304993"/>
                <a:gd name="connsiteX9" fmla="*/ 91762 w 412944"/>
                <a:gd name="connsiteY9" fmla="*/ 187201 h 304993"/>
                <a:gd name="connsiteX10" fmla="*/ 36 w 412944"/>
                <a:gd name="connsiteY10" fmla="*/ 90999 h 304993"/>
                <a:gd name="connsiteX11" fmla="*/ 91000 w 412944"/>
                <a:gd name="connsiteY11" fmla="*/ 35 h 304993"/>
                <a:gd name="connsiteX12" fmla="*/ 187393 w 412944"/>
                <a:gd name="connsiteY12" fmla="*/ 93666 h 304993"/>
                <a:gd name="connsiteX13" fmla="*/ 316647 w 412944"/>
                <a:gd name="connsiteY13" fmla="*/ 35 h 304993"/>
                <a:gd name="connsiteX14" fmla="*/ 225683 w 412944"/>
                <a:gd name="connsiteY14" fmla="*/ 90999 h 304993"/>
                <a:gd name="connsiteX15" fmla="*/ 317409 w 412944"/>
                <a:gd name="connsiteY15" fmla="*/ 187201 h 304993"/>
                <a:gd name="connsiteX16" fmla="*/ 317409 w 412944"/>
                <a:gd name="connsiteY16" fmla="*/ 187297 h 304993"/>
                <a:gd name="connsiteX17" fmla="*/ 318457 w 412944"/>
                <a:gd name="connsiteY17" fmla="*/ 187297 h 304993"/>
                <a:gd name="connsiteX18" fmla="*/ 319314 w 412944"/>
                <a:gd name="connsiteY18" fmla="*/ 187297 h 304993"/>
                <a:gd name="connsiteX19" fmla="*/ 319409 w 412944"/>
                <a:gd name="connsiteY19" fmla="*/ 187297 h 304993"/>
                <a:gd name="connsiteX20" fmla="*/ 324838 w 412944"/>
                <a:gd name="connsiteY20" fmla="*/ 194155 h 304993"/>
                <a:gd name="connsiteX21" fmla="*/ 246352 w 412944"/>
                <a:gd name="connsiteY21" fmla="*/ 298072 h 304993"/>
                <a:gd name="connsiteX22" fmla="*/ 249686 w 412944"/>
                <a:gd name="connsiteY22" fmla="*/ 304835 h 304993"/>
                <a:gd name="connsiteX23" fmla="*/ 408754 w 412944"/>
                <a:gd name="connsiteY23" fmla="*/ 121574 h 304993"/>
                <a:gd name="connsiteX24" fmla="*/ 412945 w 412944"/>
                <a:gd name="connsiteY24" fmla="*/ 93666 h 304993"/>
                <a:gd name="connsiteX25" fmla="*/ 316647 w 412944"/>
                <a:gd name="connsiteY25" fmla="*/ 35 h 304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2944" h="304993">
                  <a:moveTo>
                    <a:pt x="187393" y="93666"/>
                  </a:moveTo>
                  <a:cubicBezTo>
                    <a:pt x="187393" y="103381"/>
                    <a:pt x="185869" y="112716"/>
                    <a:pt x="183202" y="121574"/>
                  </a:cubicBezTo>
                  <a:cubicBezTo>
                    <a:pt x="157865" y="253972"/>
                    <a:pt x="64044" y="293786"/>
                    <a:pt x="24039" y="304835"/>
                  </a:cubicBezTo>
                  <a:cubicBezTo>
                    <a:pt x="19943" y="305978"/>
                    <a:pt x="17371" y="300644"/>
                    <a:pt x="20705" y="298072"/>
                  </a:cubicBezTo>
                  <a:cubicBezTo>
                    <a:pt x="63472" y="264830"/>
                    <a:pt x="86809" y="223777"/>
                    <a:pt x="99191" y="194155"/>
                  </a:cubicBezTo>
                  <a:cubicBezTo>
                    <a:pt x="100525" y="188725"/>
                    <a:pt x="96429" y="187582"/>
                    <a:pt x="93762" y="187297"/>
                  </a:cubicBezTo>
                  <a:cubicBezTo>
                    <a:pt x="93762" y="187297"/>
                    <a:pt x="93667" y="187297"/>
                    <a:pt x="93667" y="187297"/>
                  </a:cubicBezTo>
                  <a:cubicBezTo>
                    <a:pt x="93381" y="187297"/>
                    <a:pt x="93095" y="187297"/>
                    <a:pt x="92809" y="187297"/>
                  </a:cubicBezTo>
                  <a:cubicBezTo>
                    <a:pt x="92238" y="187297"/>
                    <a:pt x="91762" y="187297"/>
                    <a:pt x="91762" y="187297"/>
                  </a:cubicBezTo>
                  <a:lnTo>
                    <a:pt x="91762" y="187201"/>
                  </a:lnTo>
                  <a:cubicBezTo>
                    <a:pt x="40041" y="186249"/>
                    <a:pt x="-1393" y="143291"/>
                    <a:pt x="36" y="90999"/>
                  </a:cubicBezTo>
                  <a:cubicBezTo>
                    <a:pt x="1465" y="42136"/>
                    <a:pt x="42136" y="1464"/>
                    <a:pt x="91000" y="35"/>
                  </a:cubicBezTo>
                  <a:cubicBezTo>
                    <a:pt x="143959" y="-1394"/>
                    <a:pt x="187393" y="41088"/>
                    <a:pt x="187393" y="93666"/>
                  </a:cubicBezTo>
                  <a:close/>
                  <a:moveTo>
                    <a:pt x="316647" y="35"/>
                  </a:moveTo>
                  <a:cubicBezTo>
                    <a:pt x="267784" y="1369"/>
                    <a:pt x="227017" y="42136"/>
                    <a:pt x="225683" y="90999"/>
                  </a:cubicBezTo>
                  <a:cubicBezTo>
                    <a:pt x="224254" y="143291"/>
                    <a:pt x="265688" y="186154"/>
                    <a:pt x="317409" y="187201"/>
                  </a:cubicBezTo>
                  <a:lnTo>
                    <a:pt x="317409" y="187297"/>
                  </a:lnTo>
                  <a:cubicBezTo>
                    <a:pt x="317409" y="187297"/>
                    <a:pt x="317885" y="187297"/>
                    <a:pt x="318457" y="187297"/>
                  </a:cubicBezTo>
                  <a:cubicBezTo>
                    <a:pt x="318742" y="187297"/>
                    <a:pt x="319028" y="187297"/>
                    <a:pt x="319314" y="187297"/>
                  </a:cubicBezTo>
                  <a:cubicBezTo>
                    <a:pt x="319314" y="187297"/>
                    <a:pt x="319409" y="187297"/>
                    <a:pt x="319409" y="187297"/>
                  </a:cubicBezTo>
                  <a:cubicBezTo>
                    <a:pt x="322076" y="187487"/>
                    <a:pt x="326172" y="188630"/>
                    <a:pt x="324838" y="194155"/>
                  </a:cubicBezTo>
                  <a:cubicBezTo>
                    <a:pt x="312456" y="223777"/>
                    <a:pt x="289120" y="264830"/>
                    <a:pt x="246352" y="298072"/>
                  </a:cubicBezTo>
                  <a:cubicBezTo>
                    <a:pt x="243019" y="300644"/>
                    <a:pt x="245590" y="305978"/>
                    <a:pt x="249686" y="304835"/>
                  </a:cubicBezTo>
                  <a:cubicBezTo>
                    <a:pt x="289691" y="293691"/>
                    <a:pt x="383512" y="253876"/>
                    <a:pt x="408754" y="121574"/>
                  </a:cubicBezTo>
                  <a:cubicBezTo>
                    <a:pt x="411516" y="112716"/>
                    <a:pt x="412945" y="103381"/>
                    <a:pt x="412945" y="93666"/>
                  </a:cubicBezTo>
                  <a:cubicBezTo>
                    <a:pt x="412945" y="41088"/>
                    <a:pt x="369606" y="-1394"/>
                    <a:pt x="316647" y="35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OTF" panose="020B0600000101010101" pitchFamily="34" charset="-127"/>
                <a:ea typeface="NanumSquareOTF" panose="020B0600000101010101" pitchFamily="34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80D969-94A7-1B0A-22B8-52E64A18725F}"/>
                </a:ext>
              </a:extLst>
            </p:cNvPr>
            <p:cNvSpPr txBox="1"/>
            <p:nvPr/>
          </p:nvSpPr>
          <p:spPr>
            <a:xfrm>
              <a:off x="2358146" y="2874156"/>
              <a:ext cx="3701850" cy="359045"/>
            </a:xfrm>
            <a:prstGeom prst="roundRect">
              <a:avLst>
                <a:gd name="adj" fmla="val 13762"/>
              </a:avLst>
            </a:prstGeom>
            <a:gradFill>
              <a:gsLst>
                <a:gs pos="0">
                  <a:schemeClr val="bg1">
                    <a:alpha val="2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</a:gradFill>
          </p:spPr>
          <p:txBody>
            <a:bodyPr wrap="square" lIns="144000" tIns="0" rIns="0" bIns="0" anchor="ctr" anchorCtr="0">
              <a:noAutofit/>
            </a:bodyPr>
            <a:lstStyle>
              <a:defPPr>
                <a:defRPr lang="en-US"/>
              </a:defPPr>
              <a:lvl1pPr>
                <a:defRPr sz="1600" spc="-5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맑은 고딕 Semilight" panose="020B0502040204020203" pitchFamily="50" charset="-127"/>
                </a:defRPr>
              </a:lvl1pPr>
            </a:lstStyle>
            <a:p>
              <a:r>
                <a:rPr lang="ko-KR" altLang="en-US" sz="1400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멘토 약력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8F59FB1-8971-A705-7EAF-BD5965208C62}"/>
                </a:ext>
              </a:extLst>
            </p:cNvPr>
            <p:cNvSpPr txBox="1"/>
            <p:nvPr/>
          </p:nvSpPr>
          <p:spPr>
            <a:xfrm>
              <a:off x="2358146" y="4188792"/>
              <a:ext cx="3701850" cy="359045"/>
            </a:xfrm>
            <a:prstGeom prst="roundRect">
              <a:avLst>
                <a:gd name="adj" fmla="val 13762"/>
              </a:avLst>
            </a:prstGeom>
            <a:gradFill>
              <a:gsLst>
                <a:gs pos="0">
                  <a:schemeClr val="bg1">
                    <a:alpha val="2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</a:gradFill>
          </p:spPr>
          <p:txBody>
            <a:bodyPr wrap="square" lIns="144000" tIns="0" rIns="0" bIns="0" anchor="ctr" anchorCtr="0">
              <a:noAutofit/>
            </a:bodyPr>
            <a:lstStyle>
              <a:defPPr>
                <a:defRPr lang="en-US"/>
              </a:defPPr>
              <a:lvl1pPr>
                <a:defRPr sz="1600" spc="-5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맑은 고딕 Semilight" panose="020B0502040204020203" pitchFamily="50" charset="-127"/>
                </a:defRPr>
              </a:lvl1pPr>
            </a:lstStyle>
            <a:p>
              <a:r>
                <a:rPr lang="ko-KR" altLang="en-US" sz="1400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수행 프로젝트</a:t>
              </a:r>
            </a:p>
          </p:txBody>
        </p:sp>
        <p:sp>
          <p:nvSpPr>
            <p:cNvPr id="47" name="내용 개체 틀 2">
              <a:extLst>
                <a:ext uri="{FF2B5EF4-FFF2-40B4-BE49-F238E27FC236}">
                  <a16:creationId xmlns:a16="http://schemas.microsoft.com/office/drawing/2014/main" id="{51A2CAD8-5EE1-75FA-D4CC-967B6FA6A6DB}"/>
                </a:ext>
              </a:extLst>
            </p:cNvPr>
            <p:cNvSpPr txBox="1">
              <a:spLocks/>
            </p:cNvSpPr>
            <p:nvPr/>
          </p:nvSpPr>
          <p:spPr>
            <a:xfrm>
              <a:off x="2250126" y="3325472"/>
              <a:ext cx="3809730" cy="65133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defPPr>
                <a:defRPr lang="ko-KR"/>
              </a:defPPr>
              <a:lvl1pPr marL="206375" lvl="0" indent="-206375" fontAlgn="base" latinLnBrk="0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8892AA"/>
                </a:buClr>
                <a:buSzPct val="110000"/>
                <a:buFont typeface="Wingdings" panose="05000000000000000000" pitchFamily="2" charset="2"/>
                <a:buBlip>
                  <a:blip r:embed="rId4"/>
                </a:buBlip>
                <a:tabLst>
                  <a:tab pos="381000" algn="l"/>
                  <a:tab pos="827088" algn="l"/>
                </a:tabLst>
                <a:defRPr kumimoji="1" sz="1500" b="1" spc="0">
                  <a:ln w="11430">
                    <a:solidFill>
                      <a:schemeClr val="bg1">
                        <a:alpha val="0"/>
                      </a:schemeClr>
                    </a:solidFill>
                  </a:ln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 Unicode MS" panose="020B0604020202020204" pitchFamily="50" charset="-127"/>
                </a:defRPr>
              </a:lvl1pPr>
              <a:lvl2pPr marL="354013" lvl="1" indent="-138113" latinLnBrk="0">
                <a:lnSpc>
                  <a:spcPct val="110000"/>
                </a:lnSpc>
                <a:spcBef>
                  <a:spcPts val="600"/>
                </a:spcBef>
                <a:buFont typeface="나눔스퀘어" panose="020B0600000101010101" pitchFamily="50" charset="-127"/>
                <a:buChar char="-"/>
                <a:defRPr sz="1350" spc="-50" baseline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2pPr>
              <a:lvl3pPr marL="449263" lvl="2" indent="-125413" latinLnBrk="0">
                <a:lnSpc>
                  <a:spcPct val="110000"/>
                </a:lnSpc>
                <a:spcBef>
                  <a:spcPts val="500"/>
                </a:spcBef>
                <a:buClr>
                  <a:srgbClr val="C3C8D4"/>
                </a:buClr>
                <a:buFont typeface="Arial" panose="020B0604020202020204" pitchFamily="34" charset="0"/>
                <a:buChar char="•"/>
                <a:defRPr sz="1300" spc="-50" baseline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3pPr>
              <a:lvl4pPr marL="571500" lvl="3" indent="-139700" latinLnBrk="0">
                <a:lnSpc>
                  <a:spcPct val="100000"/>
                </a:lnSpc>
                <a:spcBef>
                  <a:spcPts val="500"/>
                </a:spcBef>
                <a:buClr>
                  <a:schemeClr val="tx1">
                    <a:lumMod val="50000"/>
                    <a:lumOff val="50000"/>
                  </a:schemeClr>
                </a:buClr>
                <a:buFont typeface="나눔스퀘어" panose="020B0600000101010101" pitchFamily="50" charset="-127"/>
                <a:buChar char="-"/>
                <a:defRPr sz="1250" spc="-50" baseline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4pPr>
              <a:lvl5pPr marL="216000" lvl="4" indent="0" latinLnBrk="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spc="-50" baseline="0">
                  <a:gradFill>
                    <a:gsLst>
                      <a:gs pos="0">
                        <a:srgbClr val="04306C"/>
                      </a:gs>
                      <a:gs pos="100000">
                        <a:srgbClr val="04306C"/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5pPr>
              <a:lvl6pPr marL="216000" lvl="5" indent="0" latinLnBrk="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spc="-50">
                  <a:gradFill>
                    <a:gsLst>
                      <a:gs pos="0">
                        <a:srgbClr val="04306C"/>
                      </a:gs>
                      <a:gs pos="100000">
                        <a:srgbClr val="04306C"/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6pPr>
              <a:lvl7pPr marL="216000" lvl="6" indent="0" latinLnBrk="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spc="-50">
                  <a:gradFill>
                    <a:gsLst>
                      <a:gs pos="0">
                        <a:srgbClr val="04306C"/>
                      </a:gs>
                      <a:gs pos="100000">
                        <a:srgbClr val="04306C"/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7pPr>
              <a:lvl8pPr marL="216000" lvl="7" indent="0" latinLnBrk="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spc="-50">
                  <a:gradFill>
                    <a:gsLst>
                      <a:gs pos="0">
                        <a:srgbClr val="04306C"/>
                      </a:gs>
                      <a:gs pos="100000">
                        <a:srgbClr val="04306C"/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8pPr>
              <a:lvl9pPr marL="216000" lvl="8" indent="0" latinLnBrk="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spc="-50">
                  <a:gradFill>
                    <a:gsLst>
                      <a:gs pos="0">
                        <a:srgbClr val="04306C"/>
                      </a:gs>
                      <a:gs pos="100000">
                        <a:srgbClr val="04306C"/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9pPr>
            </a:lstStyle>
            <a:p>
              <a:pPr marL="436563" marR="0" lvl="2" indent="-112713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3C8D4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ko-KR" altLang="en-US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현</a:t>
              </a:r>
              <a:r>
                <a:rPr lang="en-US" altLang="ko-KR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)</a:t>
              </a:r>
              <a:r>
                <a:rPr lang="ko-KR" altLang="en-US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 </a:t>
              </a:r>
              <a:r>
                <a:rPr lang="en-US" altLang="ko-KR" dirty="0" err="1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OnCreative</a:t>
              </a:r>
              <a:r>
                <a:rPr lang="en-US" altLang="ko-KR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 </a:t>
              </a:r>
              <a:r>
                <a:rPr lang="ko-KR" altLang="en-US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대표이사</a:t>
              </a:r>
              <a:r>
                <a:rPr lang="en-US" altLang="ko-KR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 </a:t>
              </a:r>
            </a:p>
            <a:p>
              <a:pPr marL="436563" marR="0" lvl="2" indent="-112713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3C8D4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ko-KR" altLang="en-US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전</a:t>
              </a:r>
              <a:r>
                <a:rPr lang="en-US" altLang="ko-KR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) </a:t>
              </a:r>
              <a:r>
                <a:rPr lang="ko-KR" altLang="en-US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삼성전자 무선사업부</a:t>
              </a:r>
              <a:endParaRPr lang="en-US" altLang="ko-KR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0" scaled="1"/>
                </a:gradFill>
                <a:latin typeface="NanumSquareOTF" panose="020B0600000101010101" pitchFamily="34" charset="-127"/>
                <a:ea typeface="NanumSquareOTF" panose="020B0600000101010101" pitchFamily="34" charset="-127"/>
              </a:endParaRPr>
            </a:p>
            <a:p>
              <a:pPr marL="436563" marR="0" lvl="2" indent="-112713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3C8D4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ko-KR" altLang="en-US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전문분야 </a:t>
              </a:r>
              <a:r>
                <a:rPr lang="en-US" altLang="ko-KR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: </a:t>
              </a:r>
              <a:r>
                <a:rPr lang="ko-KR" altLang="en-US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딥러닝</a:t>
              </a:r>
              <a:r>
                <a:rPr lang="en-US" altLang="ko-KR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,</a:t>
              </a:r>
              <a:r>
                <a:rPr lang="ko-KR" altLang="en-US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 </a:t>
              </a:r>
              <a:r>
                <a:rPr lang="ko-KR" altLang="en-US" dirty="0" err="1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머신러닝</a:t>
              </a:r>
              <a:endParaRPr lang="en-US" altLang="ko-KR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0" scaled="1"/>
                </a:gradFill>
                <a:latin typeface="NanumSquareOTF" panose="020B0600000101010101" pitchFamily="34" charset="-127"/>
                <a:ea typeface="NanumSquareOTF" panose="020B0600000101010101" pitchFamily="34" charset="-127"/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ED3C0C89-7950-49F6-3805-D968DAF43D22}"/>
              </a:ext>
            </a:extLst>
          </p:cNvPr>
          <p:cNvSpPr txBox="1"/>
          <p:nvPr/>
        </p:nvSpPr>
        <p:spPr>
          <a:xfrm>
            <a:off x="7938766" y="1112391"/>
            <a:ext cx="3701850" cy="359045"/>
          </a:xfrm>
          <a:prstGeom prst="roundRect">
            <a:avLst>
              <a:gd name="adj" fmla="val 13762"/>
            </a:avLst>
          </a:prstGeom>
          <a:gradFill>
            <a:gsLst>
              <a:gs pos="0">
                <a:schemeClr val="bg1">
                  <a:alpha val="2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</p:spPr>
        <p:txBody>
          <a:bodyPr wrap="square" lIns="144000" tIns="0" rIns="0" bIns="0" anchor="ctr" anchorCtr="0">
            <a:noAutofit/>
          </a:bodyPr>
          <a:lstStyle>
            <a:defPPr>
              <a:defRPr lang="en-US"/>
            </a:defPPr>
            <a:lvl1pPr>
              <a:defRPr sz="1600" spc="-5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0" scaled="1"/>
                </a:gradFill>
                <a:latin typeface="나눔스퀘어 Bold" panose="020B0600000101010101" pitchFamily="50" charset="-127"/>
                <a:ea typeface="나눔스퀘어 Bold" panose="020B0600000101010101" pitchFamily="50" charset="-127"/>
                <a:cs typeface="맑은 고딕 Semilight" panose="020B0502040204020203" pitchFamily="50" charset="-127"/>
              </a:defRPr>
            </a:lvl1pPr>
          </a:lstStyle>
          <a:p>
            <a:r>
              <a:rPr lang="ko-KR" altLang="en-US" sz="14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자유주제 멘토</a:t>
            </a:r>
          </a:p>
        </p:txBody>
      </p:sp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3A3D8244-2452-5BA4-8ADE-903923C72D26}"/>
              </a:ext>
            </a:extLst>
          </p:cNvPr>
          <p:cNvSpPr txBox="1">
            <a:spLocks/>
          </p:cNvSpPr>
          <p:nvPr/>
        </p:nvSpPr>
        <p:spPr>
          <a:xfrm>
            <a:off x="407368" y="1188850"/>
            <a:ext cx="6192688" cy="5149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 b="1" dirty="0"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“</a:t>
            </a:r>
            <a:r>
              <a:rPr lang="ko-KR" altLang="en-US" sz="2400" b="1" dirty="0"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생성형 </a:t>
            </a:r>
            <a:r>
              <a:rPr lang="en-US" altLang="ko-KR" sz="2400" b="1" dirty="0"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AI</a:t>
            </a:r>
            <a:r>
              <a:rPr lang="ko-KR" altLang="en-US" sz="2400" b="1" dirty="0"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와 </a:t>
            </a:r>
            <a:r>
              <a:rPr lang="en-US" altLang="ko-KR" sz="2400" b="1" dirty="0"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LLM</a:t>
            </a:r>
            <a:r>
              <a:rPr lang="ko-KR" altLang="en-US" sz="2400" b="1" dirty="0"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기반 서비스 설계 및 구현 멘토</a:t>
            </a:r>
            <a:r>
              <a:rPr lang="en-US" altLang="ko-KR" sz="2400" b="1" dirty="0"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”</a:t>
            </a:r>
            <a:r>
              <a:rPr lang="ko-KR" altLang="en-US" sz="2400" b="1" dirty="0"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endParaRPr lang="ko-KR" altLang="en-US" sz="1600" b="1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</a:gradFill>
              <a:latin typeface="Pretendard ExtraBold" panose="02000503000000020004" pitchFamily="2" charset="-127"/>
              <a:ea typeface="Pretendard ExtraBold" panose="02000503000000020004" pitchFamily="2" charset="-127"/>
              <a:cs typeface="Pretendard ExtraBold" panose="02000503000000020004" pitchFamily="2" charset="-127"/>
            </a:endParaRPr>
          </a:p>
        </p:txBody>
      </p:sp>
      <p:sp>
        <p:nvSpPr>
          <p:cNvPr id="11" name="텍스트 개체 틀 2">
            <a:extLst>
              <a:ext uri="{FF2B5EF4-FFF2-40B4-BE49-F238E27FC236}">
                <a16:creationId xmlns:a16="http://schemas.microsoft.com/office/drawing/2014/main" id="{FA131226-08F6-DE34-537B-6E98A03DE618}"/>
              </a:ext>
            </a:extLst>
          </p:cNvPr>
          <p:cNvSpPr txBox="1">
            <a:spLocks/>
          </p:cNvSpPr>
          <p:nvPr/>
        </p:nvSpPr>
        <p:spPr>
          <a:xfrm>
            <a:off x="528368" y="1827137"/>
            <a:ext cx="5819660" cy="262568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생성형 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AI(Stable Diffusion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등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파인튜닝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경험 보유</a:t>
            </a:r>
            <a:endParaRPr lang="en-US" altLang="ko-KR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>
              <a:buNone/>
            </a:pP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제조업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패션업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분야 도메인경험 보유</a:t>
            </a:r>
            <a:endParaRPr lang="en-US" altLang="ko-KR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>
              <a:buNone/>
            </a:pP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대규모 </a:t>
            </a:r>
            <a:r>
              <a:rPr lang="ko-KR" altLang="en-US" sz="1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이커머스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검색모델 고도화 및 추천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예측 시스템 설계 경험 보유</a:t>
            </a:r>
            <a:endParaRPr lang="en-US" altLang="ko-KR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>
              <a:buNone/>
            </a:pP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실무형 </a:t>
            </a:r>
            <a:r>
              <a:rPr lang="ko-KR" altLang="en-US" sz="1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툴링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MLOps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역량 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FastAPI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en-US" altLang="ko-KR" sz="1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Streamlit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Docker 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기반 빠른 프로토타이핑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배포 강점</a:t>
            </a:r>
            <a:endParaRPr lang="en-US" altLang="ko-KR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>
              <a:buNone/>
            </a:pP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유사 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AI 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장기교육 멘토링 </a:t>
            </a:r>
            <a:r>
              <a:rPr lang="ko-KR" altLang="en-US" sz="1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다회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진행경험 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새싹 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새싹 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72267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BE8CE32-5840-1DED-00C9-6BCE96234824}"/>
              </a:ext>
            </a:extLst>
          </p:cNvPr>
          <p:cNvCxnSpPr>
            <a:cxnSpLocks/>
          </p:cNvCxnSpPr>
          <p:nvPr/>
        </p:nvCxnSpPr>
        <p:spPr>
          <a:xfrm flipH="1">
            <a:off x="371364" y="944724"/>
            <a:ext cx="11341295" cy="0"/>
          </a:xfrm>
          <a:prstGeom prst="line">
            <a:avLst/>
          </a:prstGeom>
          <a:ln w="6350">
            <a:solidFill>
              <a:srgbClr val="75819F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>
            <a:extLst>
              <a:ext uri="{FF2B5EF4-FFF2-40B4-BE49-F238E27FC236}">
                <a16:creationId xmlns:a16="http://schemas.microsoft.com/office/drawing/2014/main" id="{8FA89D95-7025-96D6-5F97-90B2CE8BBF89}"/>
              </a:ext>
            </a:extLst>
          </p:cNvPr>
          <p:cNvGrpSpPr/>
          <p:nvPr/>
        </p:nvGrpSpPr>
        <p:grpSpPr>
          <a:xfrm>
            <a:off x="9686903" y="401240"/>
            <a:ext cx="2110771" cy="153888"/>
            <a:chOff x="7455481" y="383651"/>
            <a:chExt cx="2110771" cy="153888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1D8C245-54A9-0BD1-1E69-340220B12BAB}"/>
                </a:ext>
              </a:extLst>
            </p:cNvPr>
            <p:cNvSpPr/>
            <p:nvPr/>
          </p:nvSpPr>
          <p:spPr>
            <a:xfrm>
              <a:off x="7455481" y="383651"/>
              <a:ext cx="1776212" cy="153888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/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7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5F6E97">
                          <a:alpha val="70000"/>
                        </a:srgbClr>
                      </a:gs>
                      <a:gs pos="100000">
                        <a:srgbClr val="5F6E97">
                          <a:alpha val="70000"/>
                        </a:srgb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cs typeface="Arial" panose="020B0604020202020204" pitchFamily="34" charset="0"/>
                </a:rPr>
                <a:t>진행안내</a:t>
              </a:r>
              <a:endParaRPr kumimoji="0" lang="ko-KR" altLang="en-US" sz="1000" b="0" i="0" u="none" strike="noStrike" kern="1200" cap="none" spc="-70" normalizeH="0" baseline="0" noProof="0" dirty="0">
                <a:ln>
                  <a:noFill/>
                </a:ln>
                <a:gradFill>
                  <a:gsLst>
                    <a:gs pos="0">
                      <a:srgbClr val="5F6E97">
                        <a:alpha val="70000"/>
                      </a:srgbClr>
                    </a:gs>
                    <a:gs pos="100000">
                      <a:srgbClr val="5F6E97">
                        <a:alpha val="70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endParaRPr>
            </a:p>
          </p:txBody>
        </p: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518EC0E1-F377-4D22-602C-6763F1CD786D}"/>
                </a:ext>
              </a:extLst>
            </p:cNvPr>
            <p:cNvCxnSpPr>
              <a:cxnSpLocks/>
            </p:cNvCxnSpPr>
            <p:nvPr/>
          </p:nvCxnSpPr>
          <p:spPr>
            <a:xfrm>
              <a:off x="9315037" y="397582"/>
              <a:ext cx="0" cy="126026"/>
            </a:xfrm>
            <a:prstGeom prst="line">
              <a:avLst/>
            </a:prstGeom>
            <a:solidFill>
              <a:schemeClr val="bg1"/>
            </a:solidFill>
            <a:ln w="3175">
              <a:solidFill>
                <a:srgbClr val="CFD3D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410E816-0C48-1147-5B92-5A9D1782086F}"/>
                </a:ext>
              </a:extLst>
            </p:cNvPr>
            <p:cNvSpPr/>
            <p:nvPr/>
          </p:nvSpPr>
          <p:spPr>
            <a:xfrm>
              <a:off x="9372451" y="383651"/>
              <a:ext cx="193801" cy="153888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5F6E97">
                          <a:alpha val="70000"/>
                        </a:srgbClr>
                      </a:gs>
                      <a:gs pos="100000">
                        <a:srgbClr val="5F6E97">
                          <a:alpha val="70000"/>
                        </a:srgb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anose="020B0604020202020204" pitchFamily="34" charset="0"/>
                </a:rPr>
                <a:t>02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5F6E97">
                        <a:alpha val="70000"/>
                      </a:srgbClr>
                    </a:gs>
                    <a:gs pos="100000">
                      <a:srgbClr val="5F6E97">
                        <a:alpha val="70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49" name="그래픽 5">
            <a:extLst>
              <a:ext uri="{FF2B5EF4-FFF2-40B4-BE49-F238E27FC236}">
                <a16:creationId xmlns:a16="http://schemas.microsoft.com/office/drawing/2014/main" id="{474F9CA9-CBEA-7FC4-4D69-D7A9676504A6}"/>
              </a:ext>
            </a:extLst>
          </p:cNvPr>
          <p:cNvSpPr/>
          <p:nvPr/>
        </p:nvSpPr>
        <p:spPr>
          <a:xfrm>
            <a:off x="6416521" y="5535741"/>
            <a:ext cx="201182" cy="148590"/>
          </a:xfrm>
          <a:custGeom>
            <a:avLst/>
            <a:gdLst>
              <a:gd name="connsiteX0" fmla="*/ 187393 w 412944"/>
              <a:gd name="connsiteY0" fmla="*/ 93666 h 304993"/>
              <a:gd name="connsiteX1" fmla="*/ 183202 w 412944"/>
              <a:gd name="connsiteY1" fmla="*/ 121574 h 304993"/>
              <a:gd name="connsiteX2" fmla="*/ 24039 w 412944"/>
              <a:gd name="connsiteY2" fmla="*/ 304835 h 304993"/>
              <a:gd name="connsiteX3" fmla="*/ 20705 w 412944"/>
              <a:gd name="connsiteY3" fmla="*/ 298072 h 304993"/>
              <a:gd name="connsiteX4" fmla="*/ 99191 w 412944"/>
              <a:gd name="connsiteY4" fmla="*/ 194155 h 304993"/>
              <a:gd name="connsiteX5" fmla="*/ 93762 w 412944"/>
              <a:gd name="connsiteY5" fmla="*/ 187297 h 304993"/>
              <a:gd name="connsiteX6" fmla="*/ 93667 w 412944"/>
              <a:gd name="connsiteY6" fmla="*/ 187297 h 304993"/>
              <a:gd name="connsiteX7" fmla="*/ 92809 w 412944"/>
              <a:gd name="connsiteY7" fmla="*/ 187297 h 304993"/>
              <a:gd name="connsiteX8" fmla="*/ 91762 w 412944"/>
              <a:gd name="connsiteY8" fmla="*/ 187297 h 304993"/>
              <a:gd name="connsiteX9" fmla="*/ 91762 w 412944"/>
              <a:gd name="connsiteY9" fmla="*/ 187201 h 304993"/>
              <a:gd name="connsiteX10" fmla="*/ 36 w 412944"/>
              <a:gd name="connsiteY10" fmla="*/ 90999 h 304993"/>
              <a:gd name="connsiteX11" fmla="*/ 91000 w 412944"/>
              <a:gd name="connsiteY11" fmla="*/ 35 h 304993"/>
              <a:gd name="connsiteX12" fmla="*/ 187393 w 412944"/>
              <a:gd name="connsiteY12" fmla="*/ 93666 h 304993"/>
              <a:gd name="connsiteX13" fmla="*/ 316647 w 412944"/>
              <a:gd name="connsiteY13" fmla="*/ 35 h 304993"/>
              <a:gd name="connsiteX14" fmla="*/ 225683 w 412944"/>
              <a:gd name="connsiteY14" fmla="*/ 90999 h 304993"/>
              <a:gd name="connsiteX15" fmla="*/ 317409 w 412944"/>
              <a:gd name="connsiteY15" fmla="*/ 187201 h 304993"/>
              <a:gd name="connsiteX16" fmla="*/ 317409 w 412944"/>
              <a:gd name="connsiteY16" fmla="*/ 187297 h 304993"/>
              <a:gd name="connsiteX17" fmla="*/ 318457 w 412944"/>
              <a:gd name="connsiteY17" fmla="*/ 187297 h 304993"/>
              <a:gd name="connsiteX18" fmla="*/ 319314 w 412944"/>
              <a:gd name="connsiteY18" fmla="*/ 187297 h 304993"/>
              <a:gd name="connsiteX19" fmla="*/ 319409 w 412944"/>
              <a:gd name="connsiteY19" fmla="*/ 187297 h 304993"/>
              <a:gd name="connsiteX20" fmla="*/ 324838 w 412944"/>
              <a:gd name="connsiteY20" fmla="*/ 194155 h 304993"/>
              <a:gd name="connsiteX21" fmla="*/ 246352 w 412944"/>
              <a:gd name="connsiteY21" fmla="*/ 298072 h 304993"/>
              <a:gd name="connsiteX22" fmla="*/ 249686 w 412944"/>
              <a:gd name="connsiteY22" fmla="*/ 304835 h 304993"/>
              <a:gd name="connsiteX23" fmla="*/ 408754 w 412944"/>
              <a:gd name="connsiteY23" fmla="*/ 121574 h 304993"/>
              <a:gd name="connsiteX24" fmla="*/ 412945 w 412944"/>
              <a:gd name="connsiteY24" fmla="*/ 93666 h 304993"/>
              <a:gd name="connsiteX25" fmla="*/ 316647 w 412944"/>
              <a:gd name="connsiteY25" fmla="*/ 35 h 304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12944" h="304993">
                <a:moveTo>
                  <a:pt x="187393" y="93666"/>
                </a:moveTo>
                <a:cubicBezTo>
                  <a:pt x="187393" y="103381"/>
                  <a:pt x="185869" y="112716"/>
                  <a:pt x="183202" y="121574"/>
                </a:cubicBezTo>
                <a:cubicBezTo>
                  <a:pt x="157865" y="253972"/>
                  <a:pt x="64044" y="293786"/>
                  <a:pt x="24039" y="304835"/>
                </a:cubicBezTo>
                <a:cubicBezTo>
                  <a:pt x="19943" y="305978"/>
                  <a:pt x="17371" y="300644"/>
                  <a:pt x="20705" y="298072"/>
                </a:cubicBezTo>
                <a:cubicBezTo>
                  <a:pt x="63472" y="264830"/>
                  <a:pt x="86809" y="223777"/>
                  <a:pt x="99191" y="194155"/>
                </a:cubicBezTo>
                <a:cubicBezTo>
                  <a:pt x="100525" y="188725"/>
                  <a:pt x="96429" y="187582"/>
                  <a:pt x="93762" y="187297"/>
                </a:cubicBezTo>
                <a:cubicBezTo>
                  <a:pt x="93762" y="187297"/>
                  <a:pt x="93667" y="187297"/>
                  <a:pt x="93667" y="187297"/>
                </a:cubicBezTo>
                <a:cubicBezTo>
                  <a:pt x="93381" y="187297"/>
                  <a:pt x="93095" y="187297"/>
                  <a:pt x="92809" y="187297"/>
                </a:cubicBezTo>
                <a:cubicBezTo>
                  <a:pt x="92238" y="187297"/>
                  <a:pt x="91762" y="187297"/>
                  <a:pt x="91762" y="187297"/>
                </a:cubicBezTo>
                <a:lnTo>
                  <a:pt x="91762" y="187201"/>
                </a:lnTo>
                <a:cubicBezTo>
                  <a:pt x="40041" y="186249"/>
                  <a:pt x="-1393" y="143291"/>
                  <a:pt x="36" y="90999"/>
                </a:cubicBezTo>
                <a:cubicBezTo>
                  <a:pt x="1465" y="42136"/>
                  <a:pt x="42136" y="1464"/>
                  <a:pt x="91000" y="35"/>
                </a:cubicBezTo>
                <a:cubicBezTo>
                  <a:pt x="143959" y="-1394"/>
                  <a:pt x="187393" y="41088"/>
                  <a:pt x="187393" y="93666"/>
                </a:cubicBezTo>
                <a:close/>
                <a:moveTo>
                  <a:pt x="316647" y="35"/>
                </a:moveTo>
                <a:cubicBezTo>
                  <a:pt x="267784" y="1369"/>
                  <a:pt x="227017" y="42136"/>
                  <a:pt x="225683" y="90999"/>
                </a:cubicBezTo>
                <a:cubicBezTo>
                  <a:pt x="224254" y="143291"/>
                  <a:pt x="265688" y="186154"/>
                  <a:pt x="317409" y="187201"/>
                </a:cubicBezTo>
                <a:lnTo>
                  <a:pt x="317409" y="187297"/>
                </a:lnTo>
                <a:cubicBezTo>
                  <a:pt x="317409" y="187297"/>
                  <a:pt x="317885" y="187297"/>
                  <a:pt x="318457" y="187297"/>
                </a:cubicBezTo>
                <a:cubicBezTo>
                  <a:pt x="318742" y="187297"/>
                  <a:pt x="319028" y="187297"/>
                  <a:pt x="319314" y="187297"/>
                </a:cubicBezTo>
                <a:cubicBezTo>
                  <a:pt x="319314" y="187297"/>
                  <a:pt x="319409" y="187297"/>
                  <a:pt x="319409" y="187297"/>
                </a:cubicBezTo>
                <a:cubicBezTo>
                  <a:pt x="322076" y="187487"/>
                  <a:pt x="326172" y="188630"/>
                  <a:pt x="324838" y="194155"/>
                </a:cubicBezTo>
                <a:cubicBezTo>
                  <a:pt x="312456" y="223777"/>
                  <a:pt x="289120" y="264830"/>
                  <a:pt x="246352" y="298072"/>
                </a:cubicBezTo>
                <a:cubicBezTo>
                  <a:pt x="243019" y="300644"/>
                  <a:pt x="245590" y="305978"/>
                  <a:pt x="249686" y="304835"/>
                </a:cubicBezTo>
                <a:cubicBezTo>
                  <a:pt x="289691" y="293691"/>
                  <a:pt x="383512" y="253876"/>
                  <a:pt x="408754" y="121574"/>
                </a:cubicBezTo>
                <a:cubicBezTo>
                  <a:pt x="411516" y="112716"/>
                  <a:pt x="412945" y="103381"/>
                  <a:pt x="412945" y="93666"/>
                </a:cubicBezTo>
                <a:cubicBezTo>
                  <a:pt x="412945" y="41088"/>
                  <a:pt x="369606" y="-1394"/>
                  <a:pt x="316647" y="35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03947D24-D780-D339-37AD-D05B0B98EA51}"/>
              </a:ext>
            </a:extLst>
          </p:cNvPr>
          <p:cNvCxnSpPr>
            <a:cxnSpLocks/>
          </p:cNvCxnSpPr>
          <p:nvPr/>
        </p:nvCxnSpPr>
        <p:spPr>
          <a:xfrm flipH="1">
            <a:off x="7956404" y="1214700"/>
            <a:ext cx="3662377" cy="0"/>
          </a:xfrm>
          <a:prstGeom prst="line">
            <a:avLst/>
          </a:prstGeom>
          <a:ln w="19050" cap="rnd">
            <a:solidFill>
              <a:schemeClr val="bg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8EB1ED29-0155-BF1A-ADB9-AEBB8D46785F}"/>
              </a:ext>
            </a:extLst>
          </p:cNvPr>
          <p:cNvSpPr txBox="1">
            <a:spLocks/>
          </p:cNvSpPr>
          <p:nvPr/>
        </p:nvSpPr>
        <p:spPr>
          <a:xfrm>
            <a:off x="227348" y="357794"/>
            <a:ext cx="3021375" cy="5149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II. </a:t>
            </a:r>
            <a:r>
              <a:rPr lang="ko-KR" altLang="en-US" b="1" dirty="0" err="1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</a:gra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멘토소개</a:t>
            </a:r>
            <a:r>
              <a:rPr lang="en-US" altLang="ko-KR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</a:gra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-3</a:t>
            </a:r>
            <a:r>
              <a:rPr lang="ko-KR" alt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</a:gra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endParaRPr lang="ko-KR" altLang="en-US" sz="1800" b="1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</a:gradFill>
              <a:latin typeface="Pretendard ExtraBold" panose="02000503000000020004" pitchFamily="2" charset="-127"/>
              <a:ea typeface="Pretendard ExtraBold" panose="02000503000000020004" pitchFamily="2" charset="-127"/>
              <a:cs typeface="Pretendard ExtraBold" panose="02000503000000020004" pitchFamily="2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9E0696ED-5791-FF02-1470-3AA18F04F809}"/>
              </a:ext>
            </a:extLst>
          </p:cNvPr>
          <p:cNvGrpSpPr/>
          <p:nvPr/>
        </p:nvGrpSpPr>
        <p:grpSpPr>
          <a:xfrm>
            <a:off x="47328" y="977719"/>
            <a:ext cx="6165812" cy="4719533"/>
            <a:chOff x="-105816" y="1171602"/>
            <a:chExt cx="6165812" cy="4719533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DDC5090-C4D5-6CD5-5424-BDF36EAA2809}"/>
                </a:ext>
              </a:extLst>
            </p:cNvPr>
            <p:cNvSpPr>
              <a:spLocks/>
            </p:cNvSpPr>
            <p:nvPr/>
          </p:nvSpPr>
          <p:spPr>
            <a:xfrm>
              <a:off x="1087481" y="1326901"/>
              <a:ext cx="4612015" cy="4177645"/>
            </a:xfrm>
            <a:prstGeom prst="rect">
              <a:avLst/>
            </a:prstGeom>
            <a:solidFill>
              <a:srgbClr val="5A658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algn="ctr" defTabSz="897392"/>
              <a:endParaRPr lang="ko-KR" altLang="en-US" sz="1000" kern="0" spc="-50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1"/>
                </a:gradFill>
                <a:latin typeface="NanumSquareOTF" panose="020B0600000101010101" pitchFamily="34" charset="-127"/>
                <a:ea typeface="NanumSquareOTF" panose="020B0600000101010101" pitchFamily="34" charset="-127"/>
                <a:cs typeface="Arial" panose="020B0604020202020204" pitchFamily="34" charset="0"/>
              </a:endParaRPr>
            </a:p>
          </p:txBody>
        </p:sp>
        <p:pic>
          <p:nvPicPr>
            <p:cNvPr id="22" name="그림 21" descr="인간의 얼굴, 의류, 스크린샷, 사람이(가) 표시된 사진&#10;&#10;자동 생성된 설명">
              <a:extLst>
                <a:ext uri="{FF2B5EF4-FFF2-40B4-BE49-F238E27FC236}">
                  <a16:creationId xmlns:a16="http://schemas.microsoft.com/office/drawing/2014/main" id="{F6EEAA7A-0BF9-9F5F-A4EC-04C782E323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83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865013" y="1326152"/>
              <a:ext cx="3834483" cy="4178394"/>
            </a:xfrm>
            <a:prstGeom prst="rect">
              <a:avLst/>
            </a:prstGeom>
          </p:spPr>
        </p:pic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C72F1A04-E583-54AE-176D-19F739466431}"/>
                </a:ext>
              </a:extLst>
            </p:cNvPr>
            <p:cNvSpPr>
              <a:spLocks/>
            </p:cNvSpPr>
            <p:nvPr/>
          </p:nvSpPr>
          <p:spPr>
            <a:xfrm>
              <a:off x="2238188" y="1865426"/>
              <a:ext cx="3137732" cy="802014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/>
            <a:p>
              <a:pPr>
                <a:lnSpc>
                  <a:spcPct val="114000"/>
                </a:lnSpc>
                <a:buClr>
                  <a:srgbClr val="8892AA"/>
                </a:buClr>
                <a:buSzPct val="90000"/>
                <a:defRPr/>
              </a:pPr>
              <a:r>
                <a:rPr lang="ko-KR" altLang="en-US" sz="4800" b="1" dirty="0" err="1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0"/>
                  </a:gra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맑은 고딕 Semilight" panose="020B0502040204020203" pitchFamily="50" charset="-127"/>
                </a:rPr>
                <a:t>현운용</a:t>
              </a:r>
              <a:r>
                <a:rPr lang="en-US" altLang="ko-KR" sz="4800" b="1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0"/>
                  </a:gra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맑은 고딕 Semilight" panose="020B0502040204020203" pitchFamily="50" charset="-127"/>
                </a:rPr>
                <a:t> </a:t>
              </a:r>
              <a:r>
                <a:rPr lang="ko-KR" altLang="en-US" sz="2800" b="1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Arial" pitchFamily="34" charset="0"/>
                </a:rPr>
                <a:t>멘토</a:t>
              </a:r>
              <a:endParaRPr lang="en-US" altLang="ko-KR" sz="28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itchFamily="34" charset="0"/>
              </a:endParaRPr>
            </a:p>
          </p:txBody>
        </p:sp>
        <p:cxnSp>
          <p:nvCxnSpPr>
            <p:cNvPr id="24" name="직선 연결선 125">
              <a:extLst>
                <a:ext uri="{FF2B5EF4-FFF2-40B4-BE49-F238E27FC236}">
                  <a16:creationId xmlns:a16="http://schemas.microsoft.com/office/drawing/2014/main" id="{6E08ECF6-34C9-05E6-F246-29D2AF33BA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62662" y="1724562"/>
              <a:ext cx="3662377" cy="0"/>
            </a:xfrm>
            <a:prstGeom prst="line">
              <a:avLst/>
            </a:prstGeom>
            <a:ln w="19050" cap="rnd">
              <a:solidFill>
                <a:schemeClr val="bg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126">
              <a:extLst>
                <a:ext uri="{FF2B5EF4-FFF2-40B4-BE49-F238E27FC236}">
                  <a16:creationId xmlns:a16="http://schemas.microsoft.com/office/drawing/2014/main" id="{18B2E188-8230-286A-4C5A-792A002F70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60687" y="1697314"/>
              <a:ext cx="360000" cy="0"/>
            </a:xfrm>
            <a:prstGeom prst="line">
              <a:avLst/>
            </a:prstGeom>
            <a:ln w="190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6" name="그림 25" descr="의류, 만화 영화, 인간의 얼굴, 칼라이(가) 표시된 사진&#10;&#10;자동 생성된 설명">
              <a:extLst>
                <a:ext uri="{FF2B5EF4-FFF2-40B4-BE49-F238E27FC236}">
                  <a16:creationId xmlns:a16="http://schemas.microsoft.com/office/drawing/2014/main" id="{5913B8C9-45F6-1286-4A37-7D257CC961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05816" y="1171602"/>
              <a:ext cx="2142909" cy="4326766"/>
            </a:xfrm>
            <a:prstGeom prst="rect">
              <a:avLst/>
            </a:prstGeom>
          </p:spPr>
        </p:pic>
        <p:sp>
          <p:nvSpPr>
            <p:cNvPr id="27" name="내용 개체 틀 2">
              <a:extLst>
                <a:ext uri="{FF2B5EF4-FFF2-40B4-BE49-F238E27FC236}">
                  <a16:creationId xmlns:a16="http://schemas.microsoft.com/office/drawing/2014/main" id="{96F6B51D-3183-49E0-7DC7-AB13BD313774}"/>
                </a:ext>
              </a:extLst>
            </p:cNvPr>
            <p:cNvSpPr txBox="1">
              <a:spLocks/>
            </p:cNvSpPr>
            <p:nvPr/>
          </p:nvSpPr>
          <p:spPr>
            <a:xfrm>
              <a:off x="2162308" y="4659626"/>
              <a:ext cx="3469051" cy="60125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defPPr>
                <a:defRPr lang="ko-KR"/>
              </a:defPPr>
              <a:lvl1pPr marL="206375" lvl="0" indent="-206375" fontAlgn="base" latinLnBrk="0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8892AA"/>
                </a:buClr>
                <a:buSzPct val="110000"/>
                <a:buFont typeface="Wingdings" panose="05000000000000000000" pitchFamily="2" charset="2"/>
                <a:buBlip>
                  <a:blip r:embed="rId4"/>
                </a:buBlip>
                <a:tabLst>
                  <a:tab pos="381000" algn="l"/>
                  <a:tab pos="827088" algn="l"/>
                </a:tabLst>
                <a:defRPr kumimoji="1" sz="1500" b="1" spc="0">
                  <a:ln w="11430">
                    <a:solidFill>
                      <a:schemeClr val="bg1">
                        <a:alpha val="0"/>
                      </a:schemeClr>
                    </a:solidFill>
                  </a:ln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 Unicode MS" panose="020B0604020202020204" pitchFamily="50" charset="-127"/>
                </a:defRPr>
              </a:lvl1pPr>
              <a:lvl2pPr marL="354013" lvl="1" indent="-138113" latinLnBrk="0">
                <a:lnSpc>
                  <a:spcPct val="110000"/>
                </a:lnSpc>
                <a:spcBef>
                  <a:spcPts val="600"/>
                </a:spcBef>
                <a:buFont typeface="나눔스퀘어" panose="020B0600000101010101" pitchFamily="50" charset="-127"/>
                <a:buChar char="-"/>
                <a:defRPr sz="1350" spc="-50" baseline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2pPr>
              <a:lvl3pPr marL="449263" lvl="2" indent="-125413" latinLnBrk="0">
                <a:lnSpc>
                  <a:spcPct val="110000"/>
                </a:lnSpc>
                <a:spcBef>
                  <a:spcPts val="500"/>
                </a:spcBef>
                <a:buClr>
                  <a:srgbClr val="C3C8D4"/>
                </a:buClr>
                <a:buFont typeface="Arial" panose="020B0604020202020204" pitchFamily="34" charset="0"/>
                <a:buChar char="•"/>
                <a:defRPr sz="1300" spc="-50" baseline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3pPr>
              <a:lvl4pPr marL="571500" lvl="3" indent="-139700" latinLnBrk="0">
                <a:lnSpc>
                  <a:spcPct val="100000"/>
                </a:lnSpc>
                <a:spcBef>
                  <a:spcPts val="500"/>
                </a:spcBef>
                <a:buClr>
                  <a:schemeClr val="tx1">
                    <a:lumMod val="50000"/>
                    <a:lumOff val="50000"/>
                  </a:schemeClr>
                </a:buClr>
                <a:buFont typeface="나눔스퀘어" panose="020B0600000101010101" pitchFamily="50" charset="-127"/>
                <a:buChar char="-"/>
                <a:defRPr sz="1250" spc="-50" baseline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4pPr>
              <a:lvl5pPr marL="216000" lvl="4" indent="0" latinLnBrk="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spc="-50" baseline="0">
                  <a:gradFill>
                    <a:gsLst>
                      <a:gs pos="0">
                        <a:srgbClr val="04306C"/>
                      </a:gs>
                      <a:gs pos="100000">
                        <a:srgbClr val="04306C"/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5pPr>
              <a:lvl6pPr marL="216000" lvl="5" indent="0" latinLnBrk="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spc="-50">
                  <a:gradFill>
                    <a:gsLst>
                      <a:gs pos="0">
                        <a:srgbClr val="04306C"/>
                      </a:gs>
                      <a:gs pos="100000">
                        <a:srgbClr val="04306C"/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6pPr>
              <a:lvl7pPr marL="216000" lvl="6" indent="0" latinLnBrk="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spc="-50">
                  <a:gradFill>
                    <a:gsLst>
                      <a:gs pos="0">
                        <a:srgbClr val="04306C"/>
                      </a:gs>
                      <a:gs pos="100000">
                        <a:srgbClr val="04306C"/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7pPr>
              <a:lvl8pPr marL="216000" lvl="7" indent="0" latinLnBrk="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spc="-50">
                  <a:gradFill>
                    <a:gsLst>
                      <a:gs pos="0">
                        <a:srgbClr val="04306C"/>
                      </a:gs>
                      <a:gs pos="100000">
                        <a:srgbClr val="04306C"/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8pPr>
              <a:lvl9pPr marL="216000" lvl="8" indent="0" latinLnBrk="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spc="-50">
                  <a:gradFill>
                    <a:gsLst>
                      <a:gs pos="0">
                        <a:srgbClr val="04306C"/>
                      </a:gs>
                      <a:gs pos="100000">
                        <a:srgbClr val="04306C"/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9pPr>
            </a:lstStyle>
            <a:p>
              <a:pPr marL="436563" marR="0" lvl="2" indent="-112713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3C8D4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altLang="ko-KR" sz="12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(</a:t>
              </a:r>
              <a:r>
                <a:rPr lang="ko-KR" altLang="en-US" sz="1200" dirty="0" err="1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집업</a:t>
              </a:r>
              <a:r>
                <a:rPr lang="en-US" altLang="ko-KR" sz="12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)</a:t>
              </a:r>
              <a:r>
                <a:rPr lang="ko-KR" altLang="en-US" sz="12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 서비스 인프라 아키텍처 설계</a:t>
              </a:r>
              <a:endParaRPr lang="en-US" altLang="ko-KR" sz="12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0" scaled="1"/>
                </a:gradFill>
                <a:latin typeface="NanumSquareOTF" panose="020B0600000101010101" pitchFamily="34" charset="-127"/>
                <a:ea typeface="NanumSquareOTF" panose="020B0600000101010101" pitchFamily="34" charset="-127"/>
              </a:endParaRPr>
            </a:p>
            <a:p>
              <a:pPr marL="436563" marR="0" lvl="2" indent="-112713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3C8D4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altLang="ko-KR" sz="12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[</a:t>
              </a:r>
              <a:r>
                <a:rPr lang="ko-KR" altLang="en-US" sz="12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특허</a:t>
              </a:r>
              <a:r>
                <a:rPr lang="en-US" altLang="ko-KR" sz="12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]</a:t>
              </a:r>
              <a:r>
                <a:rPr lang="ko-KR" altLang="en-US" sz="12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 맞춤형 인테리어 이미지 제공 방법 및 장치</a:t>
              </a:r>
              <a:endParaRPr lang="en-US" altLang="ko-KR" sz="12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0" scaled="1"/>
                </a:gradFill>
                <a:latin typeface="NanumSquareOTF" panose="020B0600000101010101" pitchFamily="34" charset="-127"/>
                <a:ea typeface="NanumSquareOTF" panose="020B0600000101010101" pitchFamily="34" charset="-127"/>
              </a:endParaRPr>
            </a:p>
            <a:p>
              <a:pPr marL="436563" marR="0" lvl="2" indent="-112713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3C8D4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altLang="ko-KR" sz="12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[</a:t>
              </a:r>
              <a:r>
                <a:rPr lang="ko-KR" altLang="en-US" sz="12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특허출원</a:t>
              </a:r>
              <a:r>
                <a:rPr lang="en-US" altLang="ko-KR" sz="12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]</a:t>
              </a:r>
              <a:r>
                <a:rPr lang="ko-KR" altLang="en-US" sz="12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 임대차 계약 관리 및 리워드 지급 시스템</a:t>
              </a:r>
              <a:endParaRPr lang="en-US" altLang="ko-KR" sz="12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0" scaled="1"/>
                </a:gradFill>
                <a:latin typeface="NanumSquareOTF" panose="020B0600000101010101" pitchFamily="34" charset="-127"/>
                <a:ea typeface="NanumSquareOTF" panose="020B0600000101010101" pitchFamily="34" charset="-127"/>
              </a:endParaRPr>
            </a:p>
          </p:txBody>
        </p:sp>
        <p:sp>
          <p:nvSpPr>
            <p:cNvPr id="28" name="그래픽 5">
              <a:extLst>
                <a:ext uri="{FF2B5EF4-FFF2-40B4-BE49-F238E27FC236}">
                  <a16:creationId xmlns:a16="http://schemas.microsoft.com/office/drawing/2014/main" id="{6991EB9D-E52A-0EBD-5745-D7B43FD04CE0}"/>
                </a:ext>
              </a:extLst>
            </p:cNvPr>
            <p:cNvSpPr/>
            <p:nvPr/>
          </p:nvSpPr>
          <p:spPr>
            <a:xfrm rot="10800000">
              <a:off x="1111639" y="5742545"/>
              <a:ext cx="201182" cy="148590"/>
            </a:xfrm>
            <a:custGeom>
              <a:avLst/>
              <a:gdLst>
                <a:gd name="connsiteX0" fmla="*/ 187393 w 412944"/>
                <a:gd name="connsiteY0" fmla="*/ 93666 h 304993"/>
                <a:gd name="connsiteX1" fmla="*/ 183202 w 412944"/>
                <a:gd name="connsiteY1" fmla="*/ 121574 h 304993"/>
                <a:gd name="connsiteX2" fmla="*/ 24039 w 412944"/>
                <a:gd name="connsiteY2" fmla="*/ 304835 h 304993"/>
                <a:gd name="connsiteX3" fmla="*/ 20705 w 412944"/>
                <a:gd name="connsiteY3" fmla="*/ 298072 h 304993"/>
                <a:gd name="connsiteX4" fmla="*/ 99191 w 412944"/>
                <a:gd name="connsiteY4" fmla="*/ 194155 h 304993"/>
                <a:gd name="connsiteX5" fmla="*/ 93762 w 412944"/>
                <a:gd name="connsiteY5" fmla="*/ 187297 h 304993"/>
                <a:gd name="connsiteX6" fmla="*/ 93667 w 412944"/>
                <a:gd name="connsiteY6" fmla="*/ 187297 h 304993"/>
                <a:gd name="connsiteX7" fmla="*/ 92809 w 412944"/>
                <a:gd name="connsiteY7" fmla="*/ 187297 h 304993"/>
                <a:gd name="connsiteX8" fmla="*/ 91762 w 412944"/>
                <a:gd name="connsiteY8" fmla="*/ 187297 h 304993"/>
                <a:gd name="connsiteX9" fmla="*/ 91762 w 412944"/>
                <a:gd name="connsiteY9" fmla="*/ 187201 h 304993"/>
                <a:gd name="connsiteX10" fmla="*/ 36 w 412944"/>
                <a:gd name="connsiteY10" fmla="*/ 90999 h 304993"/>
                <a:gd name="connsiteX11" fmla="*/ 91000 w 412944"/>
                <a:gd name="connsiteY11" fmla="*/ 35 h 304993"/>
                <a:gd name="connsiteX12" fmla="*/ 187393 w 412944"/>
                <a:gd name="connsiteY12" fmla="*/ 93666 h 304993"/>
                <a:gd name="connsiteX13" fmla="*/ 316647 w 412944"/>
                <a:gd name="connsiteY13" fmla="*/ 35 h 304993"/>
                <a:gd name="connsiteX14" fmla="*/ 225683 w 412944"/>
                <a:gd name="connsiteY14" fmla="*/ 90999 h 304993"/>
                <a:gd name="connsiteX15" fmla="*/ 317409 w 412944"/>
                <a:gd name="connsiteY15" fmla="*/ 187201 h 304993"/>
                <a:gd name="connsiteX16" fmla="*/ 317409 w 412944"/>
                <a:gd name="connsiteY16" fmla="*/ 187297 h 304993"/>
                <a:gd name="connsiteX17" fmla="*/ 318457 w 412944"/>
                <a:gd name="connsiteY17" fmla="*/ 187297 h 304993"/>
                <a:gd name="connsiteX18" fmla="*/ 319314 w 412944"/>
                <a:gd name="connsiteY18" fmla="*/ 187297 h 304993"/>
                <a:gd name="connsiteX19" fmla="*/ 319409 w 412944"/>
                <a:gd name="connsiteY19" fmla="*/ 187297 h 304993"/>
                <a:gd name="connsiteX20" fmla="*/ 324838 w 412944"/>
                <a:gd name="connsiteY20" fmla="*/ 194155 h 304993"/>
                <a:gd name="connsiteX21" fmla="*/ 246352 w 412944"/>
                <a:gd name="connsiteY21" fmla="*/ 298072 h 304993"/>
                <a:gd name="connsiteX22" fmla="*/ 249686 w 412944"/>
                <a:gd name="connsiteY22" fmla="*/ 304835 h 304993"/>
                <a:gd name="connsiteX23" fmla="*/ 408754 w 412944"/>
                <a:gd name="connsiteY23" fmla="*/ 121574 h 304993"/>
                <a:gd name="connsiteX24" fmla="*/ 412945 w 412944"/>
                <a:gd name="connsiteY24" fmla="*/ 93666 h 304993"/>
                <a:gd name="connsiteX25" fmla="*/ 316647 w 412944"/>
                <a:gd name="connsiteY25" fmla="*/ 35 h 304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2944" h="304993">
                  <a:moveTo>
                    <a:pt x="187393" y="93666"/>
                  </a:moveTo>
                  <a:cubicBezTo>
                    <a:pt x="187393" y="103381"/>
                    <a:pt x="185869" y="112716"/>
                    <a:pt x="183202" y="121574"/>
                  </a:cubicBezTo>
                  <a:cubicBezTo>
                    <a:pt x="157865" y="253972"/>
                    <a:pt x="64044" y="293786"/>
                    <a:pt x="24039" y="304835"/>
                  </a:cubicBezTo>
                  <a:cubicBezTo>
                    <a:pt x="19943" y="305978"/>
                    <a:pt x="17371" y="300644"/>
                    <a:pt x="20705" y="298072"/>
                  </a:cubicBezTo>
                  <a:cubicBezTo>
                    <a:pt x="63472" y="264830"/>
                    <a:pt x="86809" y="223777"/>
                    <a:pt x="99191" y="194155"/>
                  </a:cubicBezTo>
                  <a:cubicBezTo>
                    <a:pt x="100525" y="188725"/>
                    <a:pt x="96429" y="187582"/>
                    <a:pt x="93762" y="187297"/>
                  </a:cubicBezTo>
                  <a:cubicBezTo>
                    <a:pt x="93762" y="187297"/>
                    <a:pt x="93667" y="187297"/>
                    <a:pt x="93667" y="187297"/>
                  </a:cubicBezTo>
                  <a:cubicBezTo>
                    <a:pt x="93381" y="187297"/>
                    <a:pt x="93095" y="187297"/>
                    <a:pt x="92809" y="187297"/>
                  </a:cubicBezTo>
                  <a:cubicBezTo>
                    <a:pt x="92238" y="187297"/>
                    <a:pt x="91762" y="187297"/>
                    <a:pt x="91762" y="187297"/>
                  </a:cubicBezTo>
                  <a:lnTo>
                    <a:pt x="91762" y="187201"/>
                  </a:lnTo>
                  <a:cubicBezTo>
                    <a:pt x="40041" y="186249"/>
                    <a:pt x="-1393" y="143291"/>
                    <a:pt x="36" y="90999"/>
                  </a:cubicBezTo>
                  <a:cubicBezTo>
                    <a:pt x="1465" y="42136"/>
                    <a:pt x="42136" y="1464"/>
                    <a:pt x="91000" y="35"/>
                  </a:cubicBezTo>
                  <a:cubicBezTo>
                    <a:pt x="143959" y="-1394"/>
                    <a:pt x="187393" y="41088"/>
                    <a:pt x="187393" y="93666"/>
                  </a:cubicBezTo>
                  <a:close/>
                  <a:moveTo>
                    <a:pt x="316647" y="35"/>
                  </a:moveTo>
                  <a:cubicBezTo>
                    <a:pt x="267784" y="1369"/>
                    <a:pt x="227017" y="42136"/>
                    <a:pt x="225683" y="90999"/>
                  </a:cubicBezTo>
                  <a:cubicBezTo>
                    <a:pt x="224254" y="143291"/>
                    <a:pt x="265688" y="186154"/>
                    <a:pt x="317409" y="187201"/>
                  </a:cubicBezTo>
                  <a:lnTo>
                    <a:pt x="317409" y="187297"/>
                  </a:lnTo>
                  <a:cubicBezTo>
                    <a:pt x="317409" y="187297"/>
                    <a:pt x="317885" y="187297"/>
                    <a:pt x="318457" y="187297"/>
                  </a:cubicBezTo>
                  <a:cubicBezTo>
                    <a:pt x="318742" y="187297"/>
                    <a:pt x="319028" y="187297"/>
                    <a:pt x="319314" y="187297"/>
                  </a:cubicBezTo>
                  <a:cubicBezTo>
                    <a:pt x="319314" y="187297"/>
                    <a:pt x="319409" y="187297"/>
                    <a:pt x="319409" y="187297"/>
                  </a:cubicBezTo>
                  <a:cubicBezTo>
                    <a:pt x="322076" y="187487"/>
                    <a:pt x="326172" y="188630"/>
                    <a:pt x="324838" y="194155"/>
                  </a:cubicBezTo>
                  <a:cubicBezTo>
                    <a:pt x="312456" y="223777"/>
                    <a:pt x="289120" y="264830"/>
                    <a:pt x="246352" y="298072"/>
                  </a:cubicBezTo>
                  <a:cubicBezTo>
                    <a:pt x="243019" y="300644"/>
                    <a:pt x="245590" y="305978"/>
                    <a:pt x="249686" y="304835"/>
                  </a:cubicBezTo>
                  <a:cubicBezTo>
                    <a:pt x="289691" y="293691"/>
                    <a:pt x="383512" y="253876"/>
                    <a:pt x="408754" y="121574"/>
                  </a:cubicBezTo>
                  <a:cubicBezTo>
                    <a:pt x="411516" y="112716"/>
                    <a:pt x="412945" y="103381"/>
                    <a:pt x="412945" y="93666"/>
                  </a:cubicBezTo>
                  <a:cubicBezTo>
                    <a:pt x="412945" y="41088"/>
                    <a:pt x="369606" y="-1394"/>
                    <a:pt x="316647" y="35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OTF" panose="020B0600000101010101" pitchFamily="34" charset="-127"/>
                <a:ea typeface="NanumSquareOTF" panose="020B0600000101010101" pitchFamily="34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2C490D8-40B9-FD71-2D89-54F74C29B261}"/>
                </a:ext>
              </a:extLst>
            </p:cNvPr>
            <p:cNvSpPr txBox="1"/>
            <p:nvPr/>
          </p:nvSpPr>
          <p:spPr>
            <a:xfrm>
              <a:off x="2358146" y="2874156"/>
              <a:ext cx="3701850" cy="359045"/>
            </a:xfrm>
            <a:prstGeom prst="roundRect">
              <a:avLst>
                <a:gd name="adj" fmla="val 13762"/>
              </a:avLst>
            </a:prstGeom>
            <a:gradFill>
              <a:gsLst>
                <a:gs pos="0">
                  <a:schemeClr val="bg1">
                    <a:alpha val="2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</a:gradFill>
          </p:spPr>
          <p:txBody>
            <a:bodyPr wrap="square" lIns="144000" tIns="0" rIns="0" bIns="0" anchor="ctr" anchorCtr="0">
              <a:noAutofit/>
            </a:bodyPr>
            <a:lstStyle>
              <a:defPPr>
                <a:defRPr lang="en-US"/>
              </a:defPPr>
              <a:lvl1pPr>
                <a:defRPr sz="1600" spc="-5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맑은 고딕 Semilight" panose="020B0502040204020203" pitchFamily="50" charset="-127"/>
                </a:defRPr>
              </a:lvl1pPr>
            </a:lstStyle>
            <a:p>
              <a:r>
                <a:rPr lang="ko-KR" altLang="en-US" sz="1400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멘토 약력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59A6011-C687-93F4-0707-DED72C015CA6}"/>
                </a:ext>
              </a:extLst>
            </p:cNvPr>
            <p:cNvSpPr txBox="1"/>
            <p:nvPr/>
          </p:nvSpPr>
          <p:spPr>
            <a:xfrm>
              <a:off x="2358146" y="4188792"/>
              <a:ext cx="3701850" cy="359045"/>
            </a:xfrm>
            <a:prstGeom prst="roundRect">
              <a:avLst>
                <a:gd name="adj" fmla="val 13762"/>
              </a:avLst>
            </a:prstGeom>
            <a:gradFill>
              <a:gsLst>
                <a:gs pos="0">
                  <a:schemeClr val="bg1">
                    <a:alpha val="2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</a:gradFill>
          </p:spPr>
          <p:txBody>
            <a:bodyPr wrap="square" lIns="144000" tIns="0" rIns="0" bIns="0" anchor="ctr" anchorCtr="0">
              <a:noAutofit/>
            </a:bodyPr>
            <a:lstStyle>
              <a:defPPr>
                <a:defRPr lang="en-US"/>
              </a:defPPr>
              <a:lvl1pPr>
                <a:defRPr sz="1600" spc="-5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맑은 고딕 Semilight" panose="020B0502040204020203" pitchFamily="50" charset="-127"/>
                </a:defRPr>
              </a:lvl1pPr>
            </a:lstStyle>
            <a:p>
              <a:r>
                <a:rPr lang="ko-KR" altLang="en-US" sz="1400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수행 프로젝트</a:t>
              </a:r>
            </a:p>
          </p:txBody>
        </p:sp>
        <p:sp>
          <p:nvSpPr>
            <p:cNvPr id="31" name="내용 개체 틀 2">
              <a:extLst>
                <a:ext uri="{FF2B5EF4-FFF2-40B4-BE49-F238E27FC236}">
                  <a16:creationId xmlns:a16="http://schemas.microsoft.com/office/drawing/2014/main" id="{4D970F51-B58D-9531-C125-46AA5CF68D25}"/>
                </a:ext>
              </a:extLst>
            </p:cNvPr>
            <p:cNvSpPr txBox="1">
              <a:spLocks/>
            </p:cNvSpPr>
            <p:nvPr/>
          </p:nvSpPr>
          <p:spPr>
            <a:xfrm>
              <a:off x="2250126" y="3325472"/>
              <a:ext cx="3809730" cy="65133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defPPr>
                <a:defRPr lang="ko-KR"/>
              </a:defPPr>
              <a:lvl1pPr marL="206375" lvl="0" indent="-206375" fontAlgn="base" latinLnBrk="0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8892AA"/>
                </a:buClr>
                <a:buSzPct val="110000"/>
                <a:buFont typeface="Wingdings" panose="05000000000000000000" pitchFamily="2" charset="2"/>
                <a:buBlip>
                  <a:blip r:embed="rId4"/>
                </a:buBlip>
                <a:tabLst>
                  <a:tab pos="381000" algn="l"/>
                  <a:tab pos="827088" algn="l"/>
                </a:tabLst>
                <a:defRPr kumimoji="1" sz="1500" b="1" spc="0">
                  <a:ln w="11430">
                    <a:solidFill>
                      <a:schemeClr val="bg1">
                        <a:alpha val="0"/>
                      </a:schemeClr>
                    </a:solidFill>
                  </a:ln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 Unicode MS" panose="020B0604020202020204" pitchFamily="50" charset="-127"/>
                </a:defRPr>
              </a:lvl1pPr>
              <a:lvl2pPr marL="354013" lvl="1" indent="-138113" latinLnBrk="0">
                <a:lnSpc>
                  <a:spcPct val="110000"/>
                </a:lnSpc>
                <a:spcBef>
                  <a:spcPts val="600"/>
                </a:spcBef>
                <a:buFont typeface="나눔스퀘어" panose="020B0600000101010101" pitchFamily="50" charset="-127"/>
                <a:buChar char="-"/>
                <a:defRPr sz="1350" spc="-50" baseline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2pPr>
              <a:lvl3pPr marL="449263" lvl="2" indent="-125413" latinLnBrk="0">
                <a:lnSpc>
                  <a:spcPct val="110000"/>
                </a:lnSpc>
                <a:spcBef>
                  <a:spcPts val="500"/>
                </a:spcBef>
                <a:buClr>
                  <a:srgbClr val="C3C8D4"/>
                </a:buClr>
                <a:buFont typeface="Arial" panose="020B0604020202020204" pitchFamily="34" charset="0"/>
                <a:buChar char="•"/>
                <a:defRPr sz="1300" spc="-50" baseline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3pPr>
              <a:lvl4pPr marL="571500" lvl="3" indent="-139700" latinLnBrk="0">
                <a:lnSpc>
                  <a:spcPct val="100000"/>
                </a:lnSpc>
                <a:spcBef>
                  <a:spcPts val="500"/>
                </a:spcBef>
                <a:buClr>
                  <a:schemeClr val="tx1">
                    <a:lumMod val="50000"/>
                    <a:lumOff val="50000"/>
                  </a:schemeClr>
                </a:buClr>
                <a:buFont typeface="나눔스퀘어" panose="020B0600000101010101" pitchFamily="50" charset="-127"/>
                <a:buChar char="-"/>
                <a:defRPr sz="1250" spc="-50" baseline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4pPr>
              <a:lvl5pPr marL="216000" lvl="4" indent="0" latinLnBrk="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spc="-50" baseline="0">
                  <a:gradFill>
                    <a:gsLst>
                      <a:gs pos="0">
                        <a:srgbClr val="04306C"/>
                      </a:gs>
                      <a:gs pos="100000">
                        <a:srgbClr val="04306C"/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5pPr>
              <a:lvl6pPr marL="216000" lvl="5" indent="0" latinLnBrk="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spc="-50">
                  <a:gradFill>
                    <a:gsLst>
                      <a:gs pos="0">
                        <a:srgbClr val="04306C"/>
                      </a:gs>
                      <a:gs pos="100000">
                        <a:srgbClr val="04306C"/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6pPr>
              <a:lvl7pPr marL="216000" lvl="6" indent="0" latinLnBrk="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spc="-50">
                  <a:gradFill>
                    <a:gsLst>
                      <a:gs pos="0">
                        <a:srgbClr val="04306C"/>
                      </a:gs>
                      <a:gs pos="100000">
                        <a:srgbClr val="04306C"/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7pPr>
              <a:lvl8pPr marL="216000" lvl="7" indent="0" latinLnBrk="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spc="-50">
                  <a:gradFill>
                    <a:gsLst>
                      <a:gs pos="0">
                        <a:srgbClr val="04306C"/>
                      </a:gs>
                      <a:gs pos="100000">
                        <a:srgbClr val="04306C"/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8pPr>
              <a:lvl9pPr marL="216000" lvl="8" indent="0" latinLnBrk="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spc="-50">
                  <a:gradFill>
                    <a:gsLst>
                      <a:gs pos="0">
                        <a:srgbClr val="04306C"/>
                      </a:gs>
                      <a:gs pos="100000">
                        <a:srgbClr val="04306C"/>
                      </a:gs>
                    </a:gsLst>
                    <a:lin ang="0" scaled="1"/>
                  </a:gra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9pPr>
            </a:lstStyle>
            <a:p>
              <a:pPr marL="436563" marR="0" lvl="2" indent="-112713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3C8D4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ko-KR" altLang="en-US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현</a:t>
              </a:r>
              <a:r>
                <a:rPr lang="en-US" altLang="ko-KR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) </a:t>
              </a:r>
              <a:r>
                <a:rPr lang="ko-KR" altLang="en-US" dirty="0" err="1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데브디</a:t>
              </a:r>
              <a:r>
                <a:rPr lang="ko-KR" altLang="en-US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 </a:t>
              </a:r>
              <a:r>
                <a:rPr lang="en-US" altLang="ko-KR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CTO </a:t>
              </a:r>
            </a:p>
            <a:p>
              <a:pPr marL="436563" marR="0" lvl="2" indent="-112713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3C8D4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ko-KR" altLang="en-US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전</a:t>
              </a:r>
              <a:r>
                <a:rPr lang="en-US" altLang="ko-KR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) </a:t>
              </a:r>
              <a:r>
                <a:rPr lang="ko-KR" altLang="en-US" dirty="0" err="1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하이퍼</a:t>
              </a:r>
              <a:r>
                <a:rPr lang="ko-KR" altLang="en-US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 클라우드 개발자</a:t>
              </a:r>
              <a:endParaRPr lang="en-US" altLang="ko-KR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0" scaled="1"/>
                </a:gradFill>
                <a:latin typeface="NanumSquareOTF" panose="020B0600000101010101" pitchFamily="34" charset="-127"/>
                <a:ea typeface="NanumSquareOTF" panose="020B0600000101010101" pitchFamily="34" charset="-127"/>
              </a:endParaRPr>
            </a:p>
            <a:p>
              <a:pPr marL="436563" marR="0" lvl="2" indent="-112713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3C8D4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ko-KR" altLang="en-US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전문분야 </a:t>
              </a:r>
              <a:r>
                <a:rPr lang="en-US" altLang="ko-KR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NanumSquareOTF" panose="020B0600000101010101" pitchFamily="34" charset="-127"/>
                  <a:ea typeface="NanumSquareOTF" panose="020B0600000101010101" pitchFamily="34" charset="-127"/>
                </a:rPr>
                <a:t>: Generative AI, Node.js, Python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17666704-3450-CCB8-6AC5-ACB9772C4D97}"/>
              </a:ext>
            </a:extLst>
          </p:cNvPr>
          <p:cNvSpPr txBox="1"/>
          <p:nvPr/>
        </p:nvSpPr>
        <p:spPr>
          <a:xfrm>
            <a:off x="1998043" y="1112391"/>
            <a:ext cx="3701850" cy="359045"/>
          </a:xfrm>
          <a:prstGeom prst="roundRect">
            <a:avLst>
              <a:gd name="adj" fmla="val 13762"/>
            </a:avLst>
          </a:prstGeom>
          <a:gradFill>
            <a:gsLst>
              <a:gs pos="0">
                <a:schemeClr val="bg1">
                  <a:alpha val="2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</p:spPr>
        <p:txBody>
          <a:bodyPr wrap="square" lIns="144000" tIns="0" rIns="0" bIns="0" anchor="ctr" anchorCtr="0">
            <a:noAutofit/>
          </a:bodyPr>
          <a:lstStyle>
            <a:defPPr>
              <a:defRPr lang="en-US"/>
            </a:defPPr>
            <a:lvl1pPr>
              <a:defRPr sz="1600" spc="-5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0" scaled="1"/>
                </a:gradFill>
                <a:latin typeface="나눔스퀘어 Bold" panose="020B0600000101010101" pitchFamily="50" charset="-127"/>
                <a:ea typeface="나눔스퀘어 Bold" panose="020B0600000101010101" pitchFamily="50" charset="-127"/>
                <a:cs typeface="맑은 고딕 Semilight" panose="020B0502040204020203" pitchFamily="50" charset="-127"/>
              </a:defRPr>
            </a:lvl1pPr>
          </a:lstStyle>
          <a:p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실무연계프로젝트  멘토</a:t>
            </a:r>
          </a:p>
        </p:txBody>
      </p:sp>
      <p:sp>
        <p:nvSpPr>
          <p:cNvPr id="34" name="텍스트 개체 틀 2">
            <a:extLst>
              <a:ext uri="{FF2B5EF4-FFF2-40B4-BE49-F238E27FC236}">
                <a16:creationId xmlns:a16="http://schemas.microsoft.com/office/drawing/2014/main" id="{89A63089-C55B-C0FD-DCBB-D2710DA6B7E3}"/>
              </a:ext>
            </a:extLst>
          </p:cNvPr>
          <p:cNvSpPr txBox="1">
            <a:spLocks/>
          </p:cNvSpPr>
          <p:nvPr/>
        </p:nvSpPr>
        <p:spPr>
          <a:xfrm>
            <a:off x="6041116" y="1196752"/>
            <a:ext cx="4951428" cy="5149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 b="1" dirty="0"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“</a:t>
            </a:r>
            <a:r>
              <a:rPr lang="ko-KR" altLang="en-US" sz="2400" b="1" dirty="0"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기업의 실무프로젝트 기반 멘토링 진행</a:t>
            </a:r>
            <a:r>
              <a:rPr lang="en-US" altLang="ko-KR" sz="2400" b="1" dirty="0"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”</a:t>
            </a:r>
            <a:r>
              <a:rPr lang="ko-KR" altLang="en-US" sz="2400" b="1" dirty="0"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endParaRPr lang="ko-KR" altLang="en-US" sz="1600" b="1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</a:gradFill>
              <a:latin typeface="Pretendard ExtraBold" panose="02000503000000020004" pitchFamily="2" charset="-127"/>
              <a:ea typeface="Pretendard ExtraBold" panose="02000503000000020004" pitchFamily="2" charset="-127"/>
              <a:cs typeface="Pretendard ExtraBold" panose="02000503000000020004" pitchFamily="2" charset="-127"/>
            </a:endParaRPr>
          </a:p>
        </p:txBody>
      </p:sp>
      <p:sp>
        <p:nvSpPr>
          <p:cNvPr id="35" name="텍스트 개체 틀 2">
            <a:extLst>
              <a:ext uri="{FF2B5EF4-FFF2-40B4-BE49-F238E27FC236}">
                <a16:creationId xmlns:a16="http://schemas.microsoft.com/office/drawing/2014/main" id="{BC1F319E-ACA8-52D3-BEE7-A956100A2102}"/>
              </a:ext>
            </a:extLst>
          </p:cNvPr>
          <p:cNvSpPr txBox="1">
            <a:spLocks/>
          </p:cNvSpPr>
          <p:nvPr/>
        </p:nvSpPr>
        <p:spPr>
          <a:xfrm>
            <a:off x="6228026" y="1840058"/>
            <a:ext cx="5819660" cy="262568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ko-KR" altLang="en-US" sz="1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집업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인테리어 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AI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개발 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인테리어 전용 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Gen AI 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모델 학습 및 시스템 구축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buFontTx/>
              <a:buChar char="-"/>
            </a:pP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Generative AI, 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클라우드 인프라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Python</a:t>
            </a:r>
          </a:p>
          <a:p>
            <a:pPr marL="0" indent="0">
              <a:buNone/>
            </a:pP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AI 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장기교육 멘토링 진행경험 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새싹 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92744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B779A-EBAF-DD2A-E3A4-02851A71E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9D48FAE-DC87-0C19-E875-8AEA41D2D0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</a:t>
            </a:r>
            <a:r>
              <a:rPr lang="en-US" altLang="ko-KR" sz="2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</a:t>
            </a:r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최종 팀프로젝트 실무연계 프로젝트 소개</a:t>
            </a:r>
            <a:endParaRPr lang="en-US" altLang="ko-KR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263480-207E-5938-649A-A9928A3508D3}"/>
              </a:ext>
            </a:extLst>
          </p:cNvPr>
          <p:cNvSpPr txBox="1"/>
          <p:nvPr/>
        </p:nvSpPr>
        <p:spPr>
          <a:xfrm>
            <a:off x="604955" y="1611960"/>
            <a:ext cx="67204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라이프스타일 기반 주거지 </a:t>
            </a:r>
            <a:r>
              <a:rPr lang="en-US" altLang="ko-KR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LLM</a:t>
            </a:r>
            <a:r>
              <a:rPr lang="ko-KR" altLang="en-US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리포트 </a:t>
            </a:r>
            <a:r>
              <a:rPr lang="ko-KR" altLang="en-US" sz="24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삶권분석</a:t>
            </a:r>
            <a:r>
              <a:rPr lang="en-US" altLang="ko-KR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+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E4BEB6-5325-012B-AD87-875DCF9935B4}"/>
              </a:ext>
            </a:extLst>
          </p:cNvPr>
          <p:cNvSpPr txBox="1"/>
          <p:nvPr/>
        </p:nvSpPr>
        <p:spPr>
          <a:xfrm>
            <a:off x="587388" y="1088740"/>
            <a:ext cx="10441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주제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8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6A998D-EFF9-DEBF-9B04-2855E600ED6F}"/>
              </a:ext>
            </a:extLst>
          </p:cNvPr>
          <p:cNvSpPr txBox="1"/>
          <p:nvPr/>
        </p:nvSpPr>
        <p:spPr>
          <a:xfrm>
            <a:off x="606334" y="2257039"/>
            <a:ext cx="25733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프로젝트 목표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8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6B58C4-7CBE-8E50-1E9E-E4B654BCFD0B}"/>
              </a:ext>
            </a:extLst>
          </p:cNvPr>
          <p:cNvSpPr txBox="1"/>
          <p:nvPr/>
        </p:nvSpPr>
        <p:spPr>
          <a:xfrm>
            <a:off x="640014" y="2816932"/>
            <a:ext cx="108205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임차인의 라이프스타일을 바탕으로 찾아주는 기존의 </a:t>
            </a:r>
            <a:r>
              <a:rPr lang="en-US" altLang="ko-KR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&lt;</a:t>
            </a:r>
            <a:r>
              <a:rPr lang="ko-KR" altLang="en-US" sz="24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삶권분석</a:t>
            </a:r>
            <a:r>
              <a:rPr lang="ko-KR" altLang="en-US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리포트</a:t>
            </a:r>
            <a:r>
              <a:rPr lang="en-US" altLang="ko-KR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</a:t>
            </a:r>
            <a:r>
              <a:rPr lang="ko-KR" altLang="en-US" sz="24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</a:t>
            </a:r>
            <a:r>
              <a:rPr lang="ko-KR" altLang="en-US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LLM</a:t>
            </a:r>
            <a:r>
              <a:rPr lang="ko-KR" altLang="en-US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 접목하여 더 개인화되고 정교한 </a:t>
            </a:r>
            <a:r>
              <a:rPr lang="en-US" altLang="ko-KR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&lt;</a:t>
            </a:r>
            <a:r>
              <a:rPr lang="ko-KR" altLang="en-US" sz="24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삶권분석</a:t>
            </a:r>
            <a:r>
              <a:rPr lang="ko-KR" altLang="en-US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리포트</a:t>
            </a:r>
            <a:r>
              <a:rPr lang="en-US" altLang="ko-KR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+&gt;</a:t>
            </a:r>
            <a:r>
              <a:rPr lang="ko-KR" altLang="en-US" sz="24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lang="ko-KR" altLang="en-US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제작하게 됩니다</a:t>
            </a:r>
            <a:r>
              <a:rPr lang="en-US" altLang="ko-KR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pic>
        <p:nvPicPr>
          <p:cNvPr id="17" name="그림 16" descr="텍스트, 웹사이트, 웹 페이지, 온라인 광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B33A411-FA27-B6A5-0004-C338DA081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09" y="3662836"/>
            <a:ext cx="5922803" cy="268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155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053DA-4F46-7C39-4E13-83BE773B8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AF55534-84EC-7D7B-B7F4-BA282126C1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</a:t>
            </a:r>
            <a:r>
              <a:rPr lang="en-US" altLang="ko-KR" sz="2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</a:t>
            </a:r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최종 팀프로젝트 실무연계 프로젝트 소개</a:t>
            </a:r>
            <a:endParaRPr lang="en-US" altLang="ko-KR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FB7A2A-9367-C463-15F4-4C853F999E48}"/>
              </a:ext>
            </a:extLst>
          </p:cNvPr>
          <p:cNvSpPr txBox="1"/>
          <p:nvPr/>
        </p:nvSpPr>
        <p:spPr>
          <a:xfrm>
            <a:off x="604954" y="1611960"/>
            <a:ext cx="103515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해당 프로젝트에 참여하는 수강생들께서는 비밀유지계약서</a:t>
            </a:r>
            <a:r>
              <a:rPr lang="en-US" altLang="ko-KR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(NDA)</a:t>
            </a:r>
            <a:r>
              <a:rPr lang="ko-KR" altLang="en-US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작성 후</a:t>
            </a:r>
            <a:r>
              <a:rPr lang="en-US" altLang="ko-KR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해당 프로젝트에 필요한 실무 데이터를 제공받게 되며</a:t>
            </a:r>
            <a:r>
              <a:rPr lang="en-US" altLang="ko-KR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해당 데이터를 이용하여 프로젝트를 진행합니다</a:t>
            </a:r>
            <a:r>
              <a:rPr lang="en-US" altLang="ko-KR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ko-KR" altLang="en-US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2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497B82-C7E9-1C92-C75F-0CDEB6ABDFAD}"/>
              </a:ext>
            </a:extLst>
          </p:cNvPr>
          <p:cNvSpPr txBox="1"/>
          <p:nvPr/>
        </p:nvSpPr>
        <p:spPr>
          <a:xfrm>
            <a:off x="587388" y="1088740"/>
            <a:ext cx="33843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지원사항</a:t>
            </a:r>
            <a:endParaRPr lang="en-US" altLang="ko-KR" sz="18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E00333-B756-D05D-317E-203DA03715EA}"/>
              </a:ext>
            </a:extLst>
          </p:cNvPr>
          <p:cNvSpPr txBox="1"/>
          <p:nvPr/>
        </p:nvSpPr>
        <p:spPr>
          <a:xfrm>
            <a:off x="623392" y="2905780"/>
            <a:ext cx="33843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기술스택</a:t>
            </a:r>
            <a:endParaRPr lang="en-US" altLang="ko-KR" sz="18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211C05A-4C08-3B0E-98F4-43E67B6DB0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400" y="3573016"/>
            <a:ext cx="1048251" cy="1048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ello FastAPI">
            <a:extLst>
              <a:ext uri="{FF2B5EF4-FFF2-40B4-BE49-F238E27FC236}">
                <a16:creationId xmlns:a16="http://schemas.microsoft.com/office/drawing/2014/main" id="{98089309-4DE3-A827-4A85-41CE487AFE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9556" y="3753036"/>
            <a:ext cx="2096291" cy="756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eact original wordmark logo - Free Icon PNG, SVG">
            <a:extLst>
              <a:ext uri="{FF2B5EF4-FFF2-40B4-BE49-F238E27FC236}">
                <a16:creationId xmlns:a16="http://schemas.microsoft.com/office/drawing/2014/main" id="{CB48FE99-0D20-4579-21B8-2B2828A2C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1804" y="3526172"/>
            <a:ext cx="1162968" cy="1162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GitHub Actions · GitHub">
            <a:extLst>
              <a:ext uri="{FF2B5EF4-FFF2-40B4-BE49-F238E27FC236}">
                <a16:creationId xmlns:a16="http://schemas.microsoft.com/office/drawing/2014/main" id="{60F46105-B799-CF33-6228-DC2822839D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4650" y="3562176"/>
            <a:ext cx="1162968" cy="1162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1342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BC58E-DB7A-E2BD-FA8E-3E744A768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71E740D-E8C9-71D3-54D3-A62378C605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II</a:t>
            </a:r>
            <a:r>
              <a:rPr lang="en-US" altLang="ko-KR" sz="2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</a:t>
            </a:r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최종 팀프로젝트 제출자료</a:t>
            </a:r>
            <a:endParaRPr lang="en-US" altLang="ko-KR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E3272F7-B0D8-B6E4-DFA1-69246F683A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2258066"/>
              </p:ext>
            </p:extLst>
          </p:nvPr>
        </p:nvGraphicFramePr>
        <p:xfrm>
          <a:off x="443373" y="2513754"/>
          <a:ext cx="4932547" cy="924818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366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5729">
                  <a:extLst>
                    <a:ext uri="{9D8B030D-6E8A-4147-A177-3AD203B41FA5}">
                      <a16:colId xmlns:a16="http://schemas.microsoft.com/office/drawing/2014/main" val="2257172588"/>
                    </a:ext>
                  </a:extLst>
                </a:gridCol>
              </a:tblGrid>
              <a:tr h="3391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i="0" kern="1200" dirty="0">
                          <a:gradFill>
                            <a:gsLst>
                              <a:gs pos="0">
                                <a:schemeClr val="accent1">
                                  <a:lumMod val="5000"/>
                                  <a:lumOff val="95000"/>
                                </a:schemeClr>
                              </a:gs>
                              <a:gs pos="100000">
                                <a:schemeClr val="bg1"/>
                              </a:gs>
                            </a:gsLst>
                            <a:lin ang="5400000" scaled="1"/>
                          </a:gra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기한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D7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i="0" kern="1200" dirty="0">
                          <a:gradFill>
                            <a:gsLst>
                              <a:gs pos="0">
                                <a:schemeClr val="accent1">
                                  <a:lumMod val="5000"/>
                                  <a:lumOff val="95000"/>
                                </a:schemeClr>
                              </a:gs>
                              <a:gs pos="100000">
                                <a:schemeClr val="bg1"/>
                              </a:gs>
                            </a:gsLst>
                            <a:lin ang="5400000" scaled="1"/>
                          </a:gra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문서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D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0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dirty="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~2/6(</a:t>
                      </a:r>
                      <a:r>
                        <a:rPr lang="ko-KR" altLang="en-US" sz="1800" b="0" i="0" dirty="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금</a:t>
                      </a:r>
                      <a:r>
                        <a:rPr lang="en-US" altLang="ko-KR" sz="1800" b="0" i="0" dirty="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)</a:t>
                      </a:r>
                      <a:endParaRPr lang="ko-KR" altLang="en-US" sz="1800" b="0" i="0" dirty="0"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프로젝트 기획안</a:t>
                      </a:r>
                      <a:endParaRPr lang="en-US" altLang="ko-KR" sz="1800" b="0" i="0" kern="1200" dirty="0">
                        <a:solidFill>
                          <a:schemeClr val="tx1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BB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0DA0784-6FA6-5B39-8DDE-D34300C0193D}"/>
              </a:ext>
            </a:extLst>
          </p:cNvPr>
          <p:cNvSpPr txBox="1"/>
          <p:nvPr/>
        </p:nvSpPr>
        <p:spPr>
          <a:xfrm>
            <a:off x="396044" y="2153714"/>
            <a:ext cx="2891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프로젝트 기획안</a:t>
            </a:r>
            <a:r>
              <a:rPr lang="en-US" altLang="ko-KR" sz="1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(~2/6)</a:t>
            </a:r>
            <a:endParaRPr lang="en-US" altLang="ko-KR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9FA2C0-F145-D815-9F2C-3FFBDA0E1E7E}"/>
              </a:ext>
            </a:extLst>
          </p:cNvPr>
          <p:cNvSpPr txBox="1"/>
          <p:nvPr/>
        </p:nvSpPr>
        <p:spPr>
          <a:xfrm>
            <a:off x="396044" y="1232756"/>
            <a:ext cx="39717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주간 수행일지 작성</a:t>
            </a:r>
            <a:r>
              <a:rPr lang="en-US" altLang="ko-KR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매주 금요일</a:t>
            </a:r>
            <a:r>
              <a:rPr lang="en-US" altLang="ko-KR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51CC0F-E954-CE4E-50C8-F45F6FD1F70D}"/>
              </a:ext>
            </a:extLst>
          </p:cNvPr>
          <p:cNvSpPr txBox="1"/>
          <p:nvPr/>
        </p:nvSpPr>
        <p:spPr>
          <a:xfrm>
            <a:off x="407368" y="1583504"/>
            <a:ext cx="34203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매주 금요일 주간 수행일지 작 성</a:t>
            </a:r>
            <a:endParaRPr lang="en-US" altLang="ko-KR" sz="14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F6E6FC-B849-4311-E1EA-FF2D4D0D56CF}"/>
              </a:ext>
            </a:extLst>
          </p:cNvPr>
          <p:cNvSpPr txBox="1"/>
          <p:nvPr/>
        </p:nvSpPr>
        <p:spPr>
          <a:xfrm>
            <a:off x="396044" y="3612512"/>
            <a:ext cx="39717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최종발표자료</a:t>
            </a:r>
            <a:r>
              <a:rPr lang="en-US" altLang="ko-KR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(~3/13)</a:t>
            </a:r>
            <a:endParaRPr lang="en-US" altLang="ko-KR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6C0F48-2920-DA22-585D-050A1E421633}"/>
              </a:ext>
            </a:extLst>
          </p:cNvPr>
          <p:cNvSpPr txBox="1"/>
          <p:nvPr/>
        </p:nvSpPr>
        <p:spPr>
          <a:xfrm>
            <a:off x="407368" y="3963260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PPT, </a:t>
            </a:r>
            <a:r>
              <a:rPr lang="ko-KR" altLang="en-US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시연영상</a:t>
            </a:r>
            <a:r>
              <a:rPr lang="en-US" altLang="ko-KR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코드</a:t>
            </a:r>
            <a:r>
              <a: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압축파일</a:t>
            </a:r>
            <a:r>
              <a: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4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1611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DFDA7-7118-C17D-5B71-B1280FC82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4473C8B-BFBA-B0C9-D590-5FF9D165A2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III</a:t>
            </a:r>
            <a:r>
              <a:rPr lang="en-US" altLang="ko-KR" sz="2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</a:t>
            </a:r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최종 팀프로젝트 유료서비스 지원</a:t>
            </a:r>
            <a:endParaRPr lang="en-US" altLang="ko-KR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0906B5-72CC-4211-1B51-A058A838D587}"/>
              </a:ext>
            </a:extLst>
          </p:cNvPr>
          <p:cNvSpPr txBox="1"/>
          <p:nvPr/>
        </p:nvSpPr>
        <p:spPr>
          <a:xfrm>
            <a:off x="396044" y="1232756"/>
            <a:ext cx="48718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최종 팀프로젝트 유료서비스 및 </a:t>
            </a:r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API 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지원</a:t>
            </a:r>
            <a:endParaRPr lang="en-US" altLang="ko-KR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7C6884-A525-AC78-7E2F-E02F7A836F8B}"/>
              </a:ext>
            </a:extLst>
          </p:cNvPr>
          <p:cNvSpPr txBox="1"/>
          <p:nvPr/>
        </p:nvSpPr>
        <p:spPr>
          <a:xfrm>
            <a:off x="515380" y="1602088"/>
            <a:ext cx="73448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최종 팀프로젝트 경우 팀 프로젝트의 질적 향상을 위해 유료서비스와 </a:t>
            </a:r>
            <a:r>
              <a:rPr lang="en-US" altLang="ko-KR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API</a:t>
            </a:r>
            <a:r>
              <a:rPr lang="ko-KR" altLang="en-US" sz="14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lang="ko-KR" altLang="en-US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지원합니다 </a:t>
            </a:r>
            <a:endParaRPr lang="en-US" altLang="ko-KR" sz="14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637C73-E2EC-EB17-F89A-B5C63121F279}"/>
              </a:ext>
            </a:extLst>
          </p:cNvPr>
          <p:cNvSpPr txBox="1"/>
          <p:nvPr/>
        </p:nvSpPr>
        <p:spPr>
          <a:xfrm>
            <a:off x="515380" y="2289500"/>
            <a:ext cx="8784976" cy="1670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지원금액은 아직 </a:t>
            </a:r>
            <a:r>
              <a:rPr lang="ko-KR" altLang="en-US" sz="14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산정중입니다</a:t>
            </a:r>
            <a:r>
              <a:rPr lang="en-US" altLang="ko-KR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사용방식은 팀장 선결제이후 지급방식입니다</a:t>
            </a:r>
            <a:r>
              <a:rPr lang="en-US" altLang="ko-KR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최종프로젝트의 경우 모든 팀원분들이 서약서를 </a:t>
            </a:r>
            <a:r>
              <a:rPr lang="ko-KR" altLang="en-US" sz="14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작성해주셔야</a:t>
            </a:r>
            <a:r>
              <a:rPr lang="ko-KR" altLang="en-US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합니다</a:t>
            </a:r>
            <a:r>
              <a:rPr lang="en-US" altLang="ko-KR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유료서비스는 반드시 프로젝트에서 사용되어야 하며</a:t>
            </a:r>
            <a:r>
              <a:rPr lang="en-US" altLang="ko-KR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이에 대한 증빙을 </a:t>
            </a:r>
            <a:r>
              <a:rPr lang="ko-KR" altLang="en-US" sz="14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제출해주셔야</a:t>
            </a:r>
            <a:r>
              <a:rPr lang="ko-KR" altLang="en-US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비용이 지급됩니다</a:t>
            </a:r>
            <a:r>
              <a:rPr lang="en-US" altLang="ko-KR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ko-KR" altLang="en-US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4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Ex) AWS, </a:t>
            </a:r>
            <a:r>
              <a:rPr lang="en-US" altLang="ko-KR" sz="14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Vercel</a:t>
            </a:r>
            <a:r>
              <a:rPr lang="en-US" altLang="ko-KR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Lovable, Chat GPT API, Gemini API, </a:t>
            </a:r>
            <a:r>
              <a:rPr lang="en-US" altLang="ko-KR" sz="14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RunPod.io</a:t>
            </a:r>
            <a:endParaRPr lang="en-US" altLang="ko-KR" sz="14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7391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7018</TotalTime>
  <Words>795</Words>
  <Application>Microsoft Macintosh PowerPoint</Application>
  <PresentationFormat>와이드스크린</PresentationFormat>
  <Paragraphs>129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5" baseType="lpstr">
      <vt:lpstr>나눔스퀘어</vt:lpstr>
      <vt:lpstr>나눔스퀘어 Bold</vt:lpstr>
      <vt:lpstr>나눔스퀘어 ExtraBold</vt:lpstr>
      <vt:lpstr>나눔스퀘어 Light</vt:lpstr>
      <vt:lpstr>맑은 고딕</vt:lpstr>
      <vt:lpstr>NanumSquareOTF</vt:lpstr>
      <vt:lpstr>NanumSquareOTF Bold</vt:lpstr>
      <vt:lpstr>Noto Sans KR</vt:lpstr>
      <vt:lpstr>Noto Sans KR Medium</vt:lpstr>
      <vt:lpstr>Pretendard</vt:lpstr>
      <vt:lpstr>Pretendard ExtraBold</vt:lpstr>
      <vt:lpstr>Pretendard Medium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MULTICAMPUS</dc:creator>
  <cp:lastModifiedBy>8593</cp:lastModifiedBy>
  <cp:revision>751</cp:revision>
  <dcterms:created xsi:type="dcterms:W3CDTF">2023-05-11T00:38:37Z</dcterms:created>
  <dcterms:modified xsi:type="dcterms:W3CDTF">2026-01-21T05:40:07Z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